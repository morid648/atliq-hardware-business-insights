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29" Target="notesSlides/notesSlide10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3.pn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2761507"/>
            <a:ext cx="9445523" cy="18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Atliq Hardware Business Insights using SQL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104330"/>
            <a:ext cx="9445523" cy="881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SQL Business Case Study</a:t>
            </a:r>
          </a:p>
          <a:p>
            <a:pPr algn="l">
              <a:lnSpc>
                <a:spcPts val="3561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Codebasics Resume Project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50238" y="6261631"/>
            <a:ext cx="9445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Prepared by: Anshul Chaudhary | Aspiring Data Analyst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7095103"/>
            <a:ext cx="9445523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Objective: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Using SQL analysis to generate actionable business insights for management decision-making.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22029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Company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944263"/>
            <a:ext cx="5256457" cy="1328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Atliq Hardware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is a leading computer hardware manufacturer operating across multiple international markets.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620887"/>
            <a:ext cx="5699167" cy="1734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3"/>
              </a:lnSpc>
            </a:pPr>
            <a:r>
              <a:rPr lang="en-US" sz="214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• L</a:t>
            </a:r>
            <a:r>
              <a:rPr lang="en-US" sz="214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eading computer hardware manufacturer</a:t>
            </a:r>
          </a:p>
          <a:p>
            <a:pPr algn="l">
              <a:lnSpc>
                <a:spcPts val="3493"/>
              </a:lnSpc>
            </a:pPr>
            <a:r>
              <a:rPr lang="en-US" sz="214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• Global presence across multiple markets</a:t>
            </a:r>
          </a:p>
          <a:p>
            <a:pPr algn="l">
              <a:lnSpc>
                <a:spcPts val="3494"/>
              </a:lnSpc>
            </a:pPr>
            <a:r>
              <a:rPr lang="en-US" sz="2145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• Large product portfolio including PCs, networking and peripherals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698610"/>
            <a:ext cx="5256457" cy="1465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With growing operations, management requires </a:t>
            </a: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data-driven insights to support strategic decision-making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949973" y="2909297"/>
            <a:ext cx="10355161" cy="5779589"/>
            <a:chOff x="0" y="0"/>
            <a:chExt cx="13806881" cy="7706119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3806932" cy="7706106"/>
            </a:xfrm>
            <a:custGeom>
              <a:avLst/>
              <a:gdLst/>
              <a:ahLst/>
              <a:cxnLst/>
              <a:rect r="r" b="b" t="t" l="l"/>
              <a:pathLst>
                <a:path h="7706106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7706106"/>
                  </a:lnTo>
                  <a:lnTo>
                    <a:pt x="0" y="7706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5" r="0" b="-25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18112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Business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87476" y="2323509"/>
            <a:ext cx="8019459" cy="3249959"/>
            <a:chOff x="0" y="0"/>
            <a:chExt cx="10692613" cy="43332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10679811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811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807" y="0"/>
                  </a:lnTo>
                  <a:cubicBezTo>
                    <a:pt x="10608690" y="0"/>
                    <a:pt x="10679811" y="71120"/>
                    <a:pt x="10679811" y="158750"/>
                  </a:cubicBezTo>
                  <a:lnTo>
                    <a:pt x="10679811" y="4161790"/>
                  </a:lnTo>
                  <a:cubicBezTo>
                    <a:pt x="10679811" y="4249420"/>
                    <a:pt x="10608563" y="4320540"/>
                    <a:pt x="10520807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511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511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470" y="0"/>
                    <a:pt x="10692511" y="73914"/>
                    <a:pt x="10692511" y="165100"/>
                  </a:cubicBezTo>
                  <a:lnTo>
                    <a:pt x="10686161" y="165100"/>
                  </a:lnTo>
                  <a:lnTo>
                    <a:pt x="10692511" y="165100"/>
                  </a:lnTo>
                  <a:lnTo>
                    <a:pt x="10692511" y="4168140"/>
                  </a:lnTo>
                  <a:lnTo>
                    <a:pt x="10686161" y="4168140"/>
                  </a:lnTo>
                  <a:lnTo>
                    <a:pt x="10692511" y="4168140"/>
                  </a:lnTo>
                  <a:cubicBezTo>
                    <a:pt x="10692511" y="4259326"/>
                    <a:pt x="10618470" y="4333240"/>
                    <a:pt x="10527157" y="4333240"/>
                  </a:cubicBezTo>
                  <a:lnTo>
                    <a:pt x="10527157" y="4326890"/>
                  </a:lnTo>
                  <a:lnTo>
                    <a:pt x="10527157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157" y="4320540"/>
                  </a:lnTo>
                  <a:cubicBezTo>
                    <a:pt x="10611485" y="4320540"/>
                    <a:pt x="10679811" y="4252341"/>
                    <a:pt x="10679811" y="4168140"/>
                  </a:cubicBezTo>
                  <a:lnTo>
                    <a:pt x="10679811" y="165100"/>
                  </a:lnTo>
                  <a:cubicBezTo>
                    <a:pt x="10679811" y="80899"/>
                    <a:pt x="10611485" y="12700"/>
                    <a:pt x="10527157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85284" y="2621309"/>
            <a:ext cx="850554" cy="850554"/>
            <a:chOff x="0" y="0"/>
            <a:chExt cx="1134072" cy="113407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sp>
        <p:nvSpPr>
          <p:cNvPr name="Freeform 12" id="12" descr="preencoded.png"/>
          <p:cNvSpPr/>
          <p:nvPr/>
        </p:nvSpPr>
        <p:spPr>
          <a:xfrm flipH="false" flipV="false" rot="0">
            <a:off x="1519238" y="285511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535" r="0" b="-853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5284" y="3717284"/>
            <a:ext cx="7047862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Limited Analytical Reporting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284" y="4263628"/>
            <a:ext cx="7423842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Insufficient tools to extract meaningful insights from operational data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0922" y="2323509"/>
            <a:ext cx="8019602" cy="3249959"/>
            <a:chOff x="0" y="0"/>
            <a:chExt cx="10692803" cy="433327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10679938" cy="4320540"/>
            </a:xfrm>
            <a:custGeom>
              <a:avLst/>
              <a:gdLst/>
              <a:ahLst/>
              <a:cxnLst/>
              <a:rect r="r" b="b" t="t" l="l"/>
              <a:pathLst>
                <a:path h="4320540" w="10679938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10520935" y="0"/>
                  </a:lnTo>
                  <a:cubicBezTo>
                    <a:pt x="10608818" y="0"/>
                    <a:pt x="10679938" y="71120"/>
                    <a:pt x="10679938" y="158750"/>
                  </a:cubicBezTo>
                  <a:lnTo>
                    <a:pt x="10679938" y="4161790"/>
                  </a:lnTo>
                  <a:cubicBezTo>
                    <a:pt x="10679938" y="4249420"/>
                    <a:pt x="10608691" y="4320540"/>
                    <a:pt x="10520935" y="4320540"/>
                  </a:cubicBezTo>
                  <a:lnTo>
                    <a:pt x="159004" y="4320540"/>
                  </a:lnTo>
                  <a:cubicBezTo>
                    <a:pt x="71247" y="4320540"/>
                    <a:pt x="0" y="4249547"/>
                    <a:pt x="0" y="4161790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2638" cy="4333240"/>
            </a:xfrm>
            <a:custGeom>
              <a:avLst/>
              <a:gdLst/>
              <a:ahLst/>
              <a:cxnLst/>
              <a:rect r="r" b="b" t="t" l="l"/>
              <a:pathLst>
                <a:path h="4333240" w="10692638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0527285" y="0"/>
                  </a:lnTo>
                  <a:lnTo>
                    <a:pt x="10527285" y="6350"/>
                  </a:lnTo>
                  <a:lnTo>
                    <a:pt x="10527285" y="0"/>
                  </a:lnTo>
                  <a:cubicBezTo>
                    <a:pt x="10618598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4168140"/>
                  </a:lnTo>
                  <a:lnTo>
                    <a:pt x="10686288" y="4168140"/>
                  </a:lnTo>
                  <a:lnTo>
                    <a:pt x="10692638" y="4168140"/>
                  </a:lnTo>
                  <a:cubicBezTo>
                    <a:pt x="10692638" y="4259326"/>
                    <a:pt x="10618598" y="4333240"/>
                    <a:pt x="10527285" y="4333240"/>
                  </a:cubicBezTo>
                  <a:lnTo>
                    <a:pt x="10527285" y="4326890"/>
                  </a:lnTo>
                  <a:lnTo>
                    <a:pt x="10527285" y="4333240"/>
                  </a:lnTo>
                  <a:lnTo>
                    <a:pt x="165354" y="4333240"/>
                  </a:lnTo>
                  <a:lnTo>
                    <a:pt x="165354" y="4326890"/>
                  </a:lnTo>
                  <a:lnTo>
                    <a:pt x="165354" y="4333240"/>
                  </a:lnTo>
                  <a:cubicBezTo>
                    <a:pt x="74041" y="4333240"/>
                    <a:pt x="0" y="4259326"/>
                    <a:pt x="0" y="4168140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4168140"/>
                  </a:lnTo>
                  <a:lnTo>
                    <a:pt x="6350" y="4168140"/>
                  </a:lnTo>
                  <a:lnTo>
                    <a:pt x="12700" y="4168140"/>
                  </a:lnTo>
                  <a:cubicBezTo>
                    <a:pt x="12700" y="4252341"/>
                    <a:pt x="81026" y="4320540"/>
                    <a:pt x="165354" y="4320540"/>
                  </a:cubicBezTo>
                  <a:lnTo>
                    <a:pt x="10527285" y="4320540"/>
                  </a:lnTo>
                  <a:cubicBezTo>
                    <a:pt x="10611612" y="4320540"/>
                    <a:pt x="10679938" y="4252341"/>
                    <a:pt x="10679938" y="4168140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285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78731" y="2621309"/>
            <a:ext cx="850554" cy="850554"/>
            <a:chOff x="0" y="0"/>
            <a:chExt cx="1134072" cy="1134072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3"/>
              </a:stretch>
            </a:blip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9812684" y="2855119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7316" r="0" b="-7318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578731" y="3717284"/>
            <a:ext cx="6989006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Complex Data Analysis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78731" y="4263628"/>
            <a:ext cx="7423995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Difficulty analyzing complex datasets and identifying patterns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7476" y="5847455"/>
            <a:ext cx="8019459" cy="2796330"/>
            <a:chOff x="0" y="0"/>
            <a:chExt cx="10692613" cy="372844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10679938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79938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57016"/>
                  </a:lnTo>
                  <a:cubicBezTo>
                    <a:pt x="10679938" y="3644646"/>
                    <a:pt x="10608690" y="3715766"/>
                    <a:pt x="10520807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92638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638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63366"/>
                  </a:lnTo>
                  <a:lnTo>
                    <a:pt x="10686288" y="3563366"/>
                  </a:lnTo>
                  <a:lnTo>
                    <a:pt x="10692638" y="3563366"/>
                  </a:lnTo>
                  <a:cubicBezTo>
                    <a:pt x="10692638" y="3654552"/>
                    <a:pt x="10618597" y="3728466"/>
                    <a:pt x="10527157" y="3728466"/>
                  </a:cubicBezTo>
                  <a:lnTo>
                    <a:pt x="10527157" y="3722116"/>
                  </a:lnTo>
                  <a:lnTo>
                    <a:pt x="10527157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157" y="3715766"/>
                  </a:lnTo>
                  <a:cubicBezTo>
                    <a:pt x="10611485" y="3715766"/>
                    <a:pt x="10679938" y="3647567"/>
                    <a:pt x="10679938" y="3563366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5284" y="6145263"/>
            <a:ext cx="850554" cy="850554"/>
            <a:chOff x="0" y="0"/>
            <a:chExt cx="1134072" cy="1134072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Freeform 28" id="28" descr="preencoded.png"/>
          <p:cNvSpPr/>
          <p:nvPr/>
        </p:nvSpPr>
        <p:spPr>
          <a:xfrm flipH="false" flipV="false" rot="0">
            <a:off x="1519238" y="637907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285284" y="7241229"/>
            <a:ext cx="7521393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Slow Decision-Making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5284" y="7787583"/>
            <a:ext cx="742384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Delayed strategic decisions due to lack of timely insights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280922" y="5847455"/>
            <a:ext cx="8019602" cy="2796330"/>
            <a:chOff x="0" y="0"/>
            <a:chExt cx="10692803" cy="37284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680065" cy="3715766"/>
            </a:xfrm>
            <a:custGeom>
              <a:avLst/>
              <a:gdLst/>
              <a:ahLst/>
              <a:cxnLst/>
              <a:rect r="r" b="b" t="t" l="l"/>
              <a:pathLst>
                <a:path h="3715766" w="10680065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57016"/>
                  </a:lnTo>
                  <a:cubicBezTo>
                    <a:pt x="10680065" y="3644646"/>
                    <a:pt x="10608818" y="3715766"/>
                    <a:pt x="10520934" y="3715766"/>
                  </a:cubicBezTo>
                  <a:lnTo>
                    <a:pt x="159131" y="3715766"/>
                  </a:lnTo>
                  <a:cubicBezTo>
                    <a:pt x="71247" y="3715766"/>
                    <a:pt x="0" y="3644646"/>
                    <a:pt x="0" y="3557016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92765" cy="3728466"/>
            </a:xfrm>
            <a:custGeom>
              <a:avLst/>
              <a:gdLst/>
              <a:ahLst/>
              <a:cxnLst/>
              <a:rect r="r" b="b" t="t" l="l"/>
              <a:pathLst>
                <a:path h="3728466" w="10692765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63366"/>
                  </a:lnTo>
                  <a:lnTo>
                    <a:pt x="10686415" y="3563366"/>
                  </a:lnTo>
                  <a:lnTo>
                    <a:pt x="10692765" y="3563366"/>
                  </a:lnTo>
                  <a:cubicBezTo>
                    <a:pt x="10692765" y="3654552"/>
                    <a:pt x="10618724" y="3728466"/>
                    <a:pt x="10527284" y="3728466"/>
                  </a:cubicBezTo>
                  <a:lnTo>
                    <a:pt x="10527284" y="3722116"/>
                  </a:lnTo>
                  <a:lnTo>
                    <a:pt x="10527284" y="3728466"/>
                  </a:lnTo>
                  <a:lnTo>
                    <a:pt x="165481" y="3728466"/>
                  </a:lnTo>
                  <a:lnTo>
                    <a:pt x="165481" y="3722116"/>
                  </a:lnTo>
                  <a:lnTo>
                    <a:pt x="165481" y="3728466"/>
                  </a:lnTo>
                  <a:cubicBezTo>
                    <a:pt x="74041" y="3728466"/>
                    <a:pt x="0" y="3654552"/>
                    <a:pt x="0" y="3563366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63366"/>
                  </a:lnTo>
                  <a:lnTo>
                    <a:pt x="6350" y="3563366"/>
                  </a:lnTo>
                  <a:lnTo>
                    <a:pt x="12700" y="3563366"/>
                  </a:lnTo>
                  <a:cubicBezTo>
                    <a:pt x="12700" y="3647567"/>
                    <a:pt x="81026" y="3715766"/>
                    <a:pt x="165481" y="3715766"/>
                  </a:cubicBezTo>
                  <a:lnTo>
                    <a:pt x="10527284" y="3715766"/>
                  </a:lnTo>
                  <a:cubicBezTo>
                    <a:pt x="10611612" y="3715766"/>
                    <a:pt x="10680065" y="3647567"/>
                    <a:pt x="10680065" y="3563366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78731" y="6145263"/>
            <a:ext cx="850554" cy="850554"/>
            <a:chOff x="0" y="0"/>
            <a:chExt cx="1134072" cy="1134072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3" b="3"/>
              </a:stretch>
            </a:blipFill>
          </p:spPr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9812684" y="6379073"/>
            <a:ext cx="382638" cy="382638"/>
          </a:xfrm>
          <a:custGeom>
            <a:avLst/>
            <a:gdLst/>
            <a:ahLst/>
            <a:cxnLst/>
            <a:rect r="r" b="b" t="t" l="l"/>
            <a:pathLst>
              <a:path h="382638" w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4879" t="0" r="-4876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9578731" y="7241229"/>
            <a:ext cx="6828215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Limited Visibility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78731" y="7787583"/>
            <a:ext cx="742399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Inadequate visibility into sales performance and trends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2238" y="8853192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This project aims to solve these challenges using </a:t>
            </a: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SQL-based data analysis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442590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Project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847975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The goal of this project is to analyze Atliq Hardware's database and generate insights for management.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709987"/>
            <a:ext cx="999138" cy="4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169121"/>
            <a:ext cx="5245446" cy="38100"/>
            <a:chOff x="0" y="0"/>
            <a:chExt cx="6993928" cy="5080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t="0" r="-27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238" y="4347572"/>
            <a:ext cx="5449908" cy="8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Analyze Product Portfolio Growth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338172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Track expansion and diversification of product offerings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01080" y="3709987"/>
            <a:ext cx="1727535" cy="4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02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21206" y="4169121"/>
            <a:ext cx="5245446" cy="38100"/>
            <a:chOff x="0" y="0"/>
            <a:chExt cx="6993928" cy="508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t="0" r="-27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01080" y="4347572"/>
            <a:ext cx="5577697" cy="8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Identify High-Performing Segments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01080" y="5338172"/>
            <a:ext cx="5935506" cy="880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Determine which product categories drive revenue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01080" y="6802641"/>
            <a:ext cx="1395284" cy="4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03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0163" y="4169121"/>
            <a:ext cx="5245446" cy="38100"/>
            <a:chOff x="0" y="0"/>
            <a:chExt cx="6993928" cy="5080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" t="0" r="-27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01080" y="7576099"/>
            <a:ext cx="5935506" cy="877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Evaluate Sales Channel Contribution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01080" y="8566699"/>
            <a:ext cx="5245446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Understand performance across different distribution channels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7261774"/>
            <a:ext cx="8009934" cy="38100"/>
            <a:chOff x="0" y="0"/>
            <a:chExt cx="10679913" cy="50800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" t="0" r="-3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6866520"/>
            <a:ext cx="1625126" cy="433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04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285684" y="7261774"/>
            <a:ext cx="8009934" cy="38100"/>
            <a:chOff x="0" y="0"/>
            <a:chExt cx="10679913" cy="5080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10679938" cy="50800"/>
            </a:xfrm>
            <a:custGeom>
              <a:avLst/>
              <a:gdLst/>
              <a:ahLst/>
              <a:cxnLst/>
              <a:rect r="r" b="b" t="t" l="l"/>
              <a:pathLst>
                <a:path h="50800" w="10679938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" t="0" r="-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992238" y="7576099"/>
            <a:ext cx="6217269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Identify Top-Performing Products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8123787"/>
            <a:ext cx="8009934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Pinpoint best-selling products for inventory optimization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38930"/>
            <a:ext cx="7088238" cy="943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Database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44316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The analysis uses six key tables from the company database: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3188" y="3002604"/>
            <a:ext cx="8048034" cy="1747990"/>
            <a:chOff x="0" y="0"/>
            <a:chExt cx="10730713" cy="2330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394" y="0"/>
                  </a:lnTo>
                  <a:cubicBezTo>
                    <a:pt x="10607548" y="0"/>
                    <a:pt x="10679938" y="71120"/>
                    <a:pt x="10679938" y="158750"/>
                  </a:cubicBezTo>
                  <a:lnTo>
                    <a:pt x="10679938" y="2121027"/>
                  </a:lnTo>
                  <a:cubicBezTo>
                    <a:pt x="10679938" y="2208657"/>
                    <a:pt x="10607675" y="2279777"/>
                    <a:pt x="10518394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794" y="0"/>
                  </a:lnTo>
                  <a:lnTo>
                    <a:pt x="10543794" y="25400"/>
                  </a:lnTo>
                  <a:lnTo>
                    <a:pt x="10543794" y="0"/>
                  </a:lnTo>
                  <a:cubicBezTo>
                    <a:pt x="10646664" y="0"/>
                    <a:pt x="10730738" y="82042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146427"/>
                  </a:lnTo>
                  <a:lnTo>
                    <a:pt x="10705338" y="2146427"/>
                  </a:lnTo>
                  <a:lnTo>
                    <a:pt x="10730738" y="2146427"/>
                  </a:lnTo>
                  <a:cubicBezTo>
                    <a:pt x="10730738" y="2248535"/>
                    <a:pt x="10646664" y="2330577"/>
                    <a:pt x="10543794" y="2330577"/>
                  </a:cubicBezTo>
                  <a:lnTo>
                    <a:pt x="10543794" y="2305177"/>
                  </a:lnTo>
                  <a:lnTo>
                    <a:pt x="10543794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794" y="2279777"/>
                  </a:lnTo>
                  <a:cubicBezTo>
                    <a:pt x="10619359" y="2279777"/>
                    <a:pt x="10679938" y="2219706"/>
                    <a:pt x="10679938" y="2146427"/>
                  </a:cubicBezTo>
                  <a:lnTo>
                    <a:pt x="10679938" y="184150"/>
                  </a:lnTo>
                  <a:cubicBezTo>
                    <a:pt x="10679938" y="110871"/>
                    <a:pt x="10619359" y="50800"/>
                    <a:pt x="10543794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13859" y="330517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dim_customer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3859" y="3851519"/>
            <a:ext cx="73666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Customer and market information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6634" y="3002604"/>
            <a:ext cx="8048177" cy="1747990"/>
            <a:chOff x="0" y="0"/>
            <a:chExt cx="10730903" cy="2330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25400" y="25400"/>
              <a:ext cx="10680064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80064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521" y="0"/>
                  </a:lnTo>
                  <a:cubicBezTo>
                    <a:pt x="10607675" y="0"/>
                    <a:pt x="10680064" y="71120"/>
                    <a:pt x="10680064" y="158750"/>
                  </a:cubicBezTo>
                  <a:lnTo>
                    <a:pt x="10680064" y="2121027"/>
                  </a:lnTo>
                  <a:cubicBezTo>
                    <a:pt x="10680064" y="2208657"/>
                    <a:pt x="10607802" y="2279777"/>
                    <a:pt x="10518521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30864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864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921" y="0"/>
                  </a:lnTo>
                  <a:lnTo>
                    <a:pt x="10543921" y="25400"/>
                  </a:lnTo>
                  <a:lnTo>
                    <a:pt x="10543921" y="0"/>
                  </a:lnTo>
                  <a:cubicBezTo>
                    <a:pt x="10646790" y="0"/>
                    <a:pt x="10730864" y="82042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146427"/>
                  </a:lnTo>
                  <a:lnTo>
                    <a:pt x="10705464" y="2146427"/>
                  </a:lnTo>
                  <a:lnTo>
                    <a:pt x="10730864" y="2146427"/>
                  </a:lnTo>
                  <a:cubicBezTo>
                    <a:pt x="10730864" y="2248535"/>
                    <a:pt x="10646790" y="2330577"/>
                    <a:pt x="10543921" y="2330577"/>
                  </a:cubicBezTo>
                  <a:lnTo>
                    <a:pt x="10543921" y="2305177"/>
                  </a:lnTo>
                  <a:lnTo>
                    <a:pt x="10543921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921" y="2279777"/>
                  </a:lnTo>
                  <a:cubicBezTo>
                    <a:pt x="10619486" y="2279777"/>
                    <a:pt x="10680064" y="2219706"/>
                    <a:pt x="10680064" y="2146427"/>
                  </a:cubicBezTo>
                  <a:lnTo>
                    <a:pt x="10680064" y="184150"/>
                  </a:lnTo>
                  <a:cubicBezTo>
                    <a:pt x="10680064" y="110871"/>
                    <a:pt x="10619486" y="50800"/>
                    <a:pt x="10543921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07306" y="330517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dim_product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7306" y="3851519"/>
            <a:ext cx="73668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Product details and segments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73188" y="4996015"/>
            <a:ext cx="8048034" cy="1747990"/>
            <a:chOff x="0" y="0"/>
            <a:chExt cx="10730713" cy="233065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394" y="0"/>
                  </a:lnTo>
                  <a:cubicBezTo>
                    <a:pt x="10607548" y="0"/>
                    <a:pt x="10679938" y="71120"/>
                    <a:pt x="10679938" y="158750"/>
                  </a:cubicBezTo>
                  <a:lnTo>
                    <a:pt x="10679938" y="2121027"/>
                  </a:lnTo>
                  <a:cubicBezTo>
                    <a:pt x="10679938" y="2208657"/>
                    <a:pt x="10607675" y="2279777"/>
                    <a:pt x="10518394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794" y="0"/>
                  </a:lnTo>
                  <a:lnTo>
                    <a:pt x="10543794" y="25400"/>
                  </a:lnTo>
                  <a:lnTo>
                    <a:pt x="10543794" y="0"/>
                  </a:lnTo>
                  <a:cubicBezTo>
                    <a:pt x="10646664" y="0"/>
                    <a:pt x="10730738" y="82042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146427"/>
                  </a:lnTo>
                  <a:lnTo>
                    <a:pt x="10705338" y="2146427"/>
                  </a:lnTo>
                  <a:lnTo>
                    <a:pt x="10730738" y="2146427"/>
                  </a:lnTo>
                  <a:cubicBezTo>
                    <a:pt x="10730738" y="2248535"/>
                    <a:pt x="10646664" y="2330577"/>
                    <a:pt x="10543794" y="2330577"/>
                  </a:cubicBezTo>
                  <a:lnTo>
                    <a:pt x="10543794" y="2305177"/>
                  </a:lnTo>
                  <a:lnTo>
                    <a:pt x="10543794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794" y="2279777"/>
                  </a:lnTo>
                  <a:cubicBezTo>
                    <a:pt x="10619359" y="2279777"/>
                    <a:pt x="10679938" y="2219706"/>
                    <a:pt x="10679938" y="2146427"/>
                  </a:cubicBezTo>
                  <a:lnTo>
                    <a:pt x="10679938" y="184150"/>
                  </a:lnTo>
                  <a:cubicBezTo>
                    <a:pt x="10679938" y="110871"/>
                    <a:pt x="10619359" y="50800"/>
                    <a:pt x="10543794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13859" y="5298577"/>
            <a:ext cx="4821931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fact_sales_monthly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3859" y="5844931"/>
            <a:ext cx="73666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Monthly sales data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66634" y="4996015"/>
            <a:ext cx="8048177" cy="1747990"/>
            <a:chOff x="0" y="0"/>
            <a:chExt cx="10730903" cy="23306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25400" y="25400"/>
              <a:ext cx="10680064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80064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521" y="0"/>
                  </a:lnTo>
                  <a:cubicBezTo>
                    <a:pt x="10607675" y="0"/>
                    <a:pt x="10680064" y="71120"/>
                    <a:pt x="10680064" y="158750"/>
                  </a:cubicBezTo>
                  <a:lnTo>
                    <a:pt x="10680064" y="2121027"/>
                  </a:lnTo>
                  <a:cubicBezTo>
                    <a:pt x="10680064" y="2208657"/>
                    <a:pt x="10607802" y="2279777"/>
                    <a:pt x="10518521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30864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864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921" y="0"/>
                  </a:lnTo>
                  <a:lnTo>
                    <a:pt x="10543921" y="25400"/>
                  </a:lnTo>
                  <a:lnTo>
                    <a:pt x="10543921" y="0"/>
                  </a:lnTo>
                  <a:cubicBezTo>
                    <a:pt x="10646790" y="0"/>
                    <a:pt x="10730864" y="82042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146427"/>
                  </a:lnTo>
                  <a:lnTo>
                    <a:pt x="10705464" y="2146427"/>
                  </a:lnTo>
                  <a:lnTo>
                    <a:pt x="10730864" y="2146427"/>
                  </a:lnTo>
                  <a:cubicBezTo>
                    <a:pt x="10730864" y="2248535"/>
                    <a:pt x="10646790" y="2330577"/>
                    <a:pt x="10543921" y="2330577"/>
                  </a:cubicBezTo>
                  <a:lnTo>
                    <a:pt x="10543921" y="2305177"/>
                  </a:lnTo>
                  <a:lnTo>
                    <a:pt x="10543921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921" y="2279777"/>
                  </a:lnTo>
                  <a:cubicBezTo>
                    <a:pt x="10619486" y="2279777"/>
                    <a:pt x="10680064" y="2219706"/>
                    <a:pt x="10680064" y="2146427"/>
                  </a:cubicBezTo>
                  <a:lnTo>
                    <a:pt x="10680064" y="184150"/>
                  </a:lnTo>
                  <a:cubicBezTo>
                    <a:pt x="10680064" y="110871"/>
                    <a:pt x="10619486" y="50800"/>
                    <a:pt x="10543921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07306" y="5298577"/>
            <a:ext cx="4898604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fact_gross_price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07306" y="5844931"/>
            <a:ext cx="73668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Product pricing information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73188" y="6989416"/>
            <a:ext cx="8048034" cy="1747990"/>
            <a:chOff x="0" y="0"/>
            <a:chExt cx="10730713" cy="233065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25400" y="25400"/>
              <a:ext cx="10679938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79938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394" y="0"/>
                  </a:lnTo>
                  <a:cubicBezTo>
                    <a:pt x="10607548" y="0"/>
                    <a:pt x="10679938" y="71120"/>
                    <a:pt x="10679938" y="158750"/>
                  </a:cubicBezTo>
                  <a:lnTo>
                    <a:pt x="10679938" y="2121027"/>
                  </a:lnTo>
                  <a:cubicBezTo>
                    <a:pt x="10679938" y="2208657"/>
                    <a:pt x="10607675" y="2279777"/>
                    <a:pt x="10518394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30738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738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794" y="0"/>
                  </a:lnTo>
                  <a:lnTo>
                    <a:pt x="10543794" y="25400"/>
                  </a:lnTo>
                  <a:lnTo>
                    <a:pt x="10543794" y="0"/>
                  </a:lnTo>
                  <a:cubicBezTo>
                    <a:pt x="10646664" y="0"/>
                    <a:pt x="10730738" y="82042"/>
                    <a:pt x="10730738" y="184150"/>
                  </a:cubicBezTo>
                  <a:lnTo>
                    <a:pt x="10705338" y="184150"/>
                  </a:lnTo>
                  <a:lnTo>
                    <a:pt x="10730738" y="184150"/>
                  </a:lnTo>
                  <a:lnTo>
                    <a:pt x="10730738" y="2146427"/>
                  </a:lnTo>
                  <a:lnTo>
                    <a:pt x="10705338" y="2146427"/>
                  </a:lnTo>
                  <a:lnTo>
                    <a:pt x="10730738" y="2146427"/>
                  </a:lnTo>
                  <a:cubicBezTo>
                    <a:pt x="10730738" y="2248535"/>
                    <a:pt x="10646664" y="2330577"/>
                    <a:pt x="10543794" y="2330577"/>
                  </a:cubicBezTo>
                  <a:lnTo>
                    <a:pt x="10543794" y="2305177"/>
                  </a:lnTo>
                  <a:lnTo>
                    <a:pt x="10543794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794" y="2279777"/>
                  </a:lnTo>
                  <a:cubicBezTo>
                    <a:pt x="10619359" y="2279777"/>
                    <a:pt x="10679938" y="2219706"/>
                    <a:pt x="10679938" y="2146427"/>
                  </a:cubicBezTo>
                  <a:lnTo>
                    <a:pt x="10679938" y="184150"/>
                  </a:lnTo>
                  <a:cubicBezTo>
                    <a:pt x="10679938" y="110871"/>
                    <a:pt x="10619359" y="50800"/>
                    <a:pt x="10543794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13859" y="7291978"/>
            <a:ext cx="6766617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fact_manufacturing_cost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859" y="7838332"/>
            <a:ext cx="7366692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Product manufacturing costs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66634" y="6989416"/>
            <a:ext cx="8048177" cy="1747990"/>
            <a:chOff x="0" y="0"/>
            <a:chExt cx="10730903" cy="23306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10680064" cy="2279777"/>
            </a:xfrm>
            <a:custGeom>
              <a:avLst/>
              <a:gdLst/>
              <a:ahLst/>
              <a:cxnLst/>
              <a:rect r="r" b="b" t="t" l="l"/>
              <a:pathLst>
                <a:path h="2279777" w="10680064">
                  <a:moveTo>
                    <a:pt x="0" y="158750"/>
                  </a:moveTo>
                  <a:cubicBezTo>
                    <a:pt x="0" y="71120"/>
                    <a:pt x="72263" y="0"/>
                    <a:pt x="161544" y="0"/>
                  </a:cubicBezTo>
                  <a:lnTo>
                    <a:pt x="10518521" y="0"/>
                  </a:lnTo>
                  <a:cubicBezTo>
                    <a:pt x="10607675" y="0"/>
                    <a:pt x="10680064" y="71120"/>
                    <a:pt x="10680064" y="158750"/>
                  </a:cubicBezTo>
                  <a:lnTo>
                    <a:pt x="10680064" y="2121027"/>
                  </a:lnTo>
                  <a:cubicBezTo>
                    <a:pt x="10680064" y="2208657"/>
                    <a:pt x="10607802" y="2279777"/>
                    <a:pt x="10518521" y="2279777"/>
                  </a:cubicBezTo>
                  <a:lnTo>
                    <a:pt x="161544" y="2279777"/>
                  </a:lnTo>
                  <a:cubicBezTo>
                    <a:pt x="72390" y="2279777"/>
                    <a:pt x="0" y="2208657"/>
                    <a:pt x="0" y="2121027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30864" cy="2330577"/>
            </a:xfrm>
            <a:custGeom>
              <a:avLst/>
              <a:gdLst/>
              <a:ahLst/>
              <a:cxnLst/>
              <a:rect r="r" b="b" t="t" l="l"/>
              <a:pathLst>
                <a:path h="2330577" w="10730864">
                  <a:moveTo>
                    <a:pt x="0" y="184150"/>
                  </a:moveTo>
                  <a:cubicBezTo>
                    <a:pt x="0" y="82042"/>
                    <a:pt x="84074" y="0"/>
                    <a:pt x="186944" y="0"/>
                  </a:cubicBezTo>
                  <a:lnTo>
                    <a:pt x="10543921" y="0"/>
                  </a:lnTo>
                  <a:lnTo>
                    <a:pt x="10543921" y="25400"/>
                  </a:lnTo>
                  <a:lnTo>
                    <a:pt x="10543921" y="0"/>
                  </a:lnTo>
                  <a:cubicBezTo>
                    <a:pt x="10646790" y="0"/>
                    <a:pt x="10730864" y="82042"/>
                    <a:pt x="10730864" y="184150"/>
                  </a:cubicBezTo>
                  <a:lnTo>
                    <a:pt x="10705464" y="184150"/>
                  </a:lnTo>
                  <a:lnTo>
                    <a:pt x="10730864" y="184150"/>
                  </a:lnTo>
                  <a:lnTo>
                    <a:pt x="10730864" y="2146427"/>
                  </a:lnTo>
                  <a:lnTo>
                    <a:pt x="10705464" y="2146427"/>
                  </a:lnTo>
                  <a:lnTo>
                    <a:pt x="10730864" y="2146427"/>
                  </a:lnTo>
                  <a:cubicBezTo>
                    <a:pt x="10730864" y="2248535"/>
                    <a:pt x="10646790" y="2330577"/>
                    <a:pt x="10543921" y="2330577"/>
                  </a:cubicBezTo>
                  <a:lnTo>
                    <a:pt x="10543921" y="2305177"/>
                  </a:lnTo>
                  <a:lnTo>
                    <a:pt x="10543921" y="2330577"/>
                  </a:lnTo>
                  <a:lnTo>
                    <a:pt x="186944" y="2330577"/>
                  </a:lnTo>
                  <a:lnTo>
                    <a:pt x="186944" y="2305177"/>
                  </a:lnTo>
                  <a:lnTo>
                    <a:pt x="186944" y="2330577"/>
                  </a:lnTo>
                  <a:cubicBezTo>
                    <a:pt x="84074" y="2330577"/>
                    <a:pt x="0" y="2248535"/>
                    <a:pt x="0" y="2146427"/>
                  </a:cubicBezTo>
                  <a:lnTo>
                    <a:pt x="0" y="184150"/>
                  </a:lnTo>
                  <a:lnTo>
                    <a:pt x="25400" y="184150"/>
                  </a:lnTo>
                  <a:lnTo>
                    <a:pt x="0" y="184150"/>
                  </a:lnTo>
                  <a:moveTo>
                    <a:pt x="50800" y="184150"/>
                  </a:moveTo>
                  <a:lnTo>
                    <a:pt x="50800" y="2146427"/>
                  </a:lnTo>
                  <a:lnTo>
                    <a:pt x="25400" y="2146427"/>
                  </a:lnTo>
                  <a:lnTo>
                    <a:pt x="50800" y="2146427"/>
                  </a:lnTo>
                  <a:cubicBezTo>
                    <a:pt x="50800" y="2219706"/>
                    <a:pt x="111379" y="2279777"/>
                    <a:pt x="186944" y="2279777"/>
                  </a:cubicBezTo>
                  <a:lnTo>
                    <a:pt x="10543921" y="2279777"/>
                  </a:lnTo>
                  <a:cubicBezTo>
                    <a:pt x="10619486" y="2279777"/>
                    <a:pt x="10680064" y="2219706"/>
                    <a:pt x="10680064" y="2146427"/>
                  </a:cubicBezTo>
                  <a:lnTo>
                    <a:pt x="10680064" y="184150"/>
                  </a:lnTo>
                  <a:cubicBezTo>
                    <a:pt x="10680064" y="110871"/>
                    <a:pt x="10619486" y="50800"/>
                    <a:pt x="10543921" y="50800"/>
                  </a:cubicBezTo>
                  <a:lnTo>
                    <a:pt x="186944" y="50800"/>
                  </a:lnTo>
                  <a:lnTo>
                    <a:pt x="186944" y="25400"/>
                  </a:lnTo>
                  <a:lnTo>
                    <a:pt x="186944" y="50800"/>
                  </a:lnTo>
                  <a:cubicBezTo>
                    <a:pt x="111379" y="50800"/>
                    <a:pt x="50800" y="110871"/>
                    <a:pt x="50800" y="18415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607306" y="7291978"/>
            <a:ext cx="6501585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fact_pre_invoice_deductions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07306" y="7838332"/>
            <a:ext cx="7366845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Customer discount percentages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2238" y="8932516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These tables allow analysis of </a:t>
            </a: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sales trends, product strategy, and customer behavior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43578"/>
            <a:ext cx="7939922" cy="58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Product Portfolio Growth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5841" y="2065439"/>
            <a:ext cx="3467395" cy="5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245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6734" y="2750639"/>
            <a:ext cx="2425598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Unique Products 2020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3119885"/>
            <a:ext cx="5334591" cy="26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Baseline product count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10155" y="2065439"/>
            <a:ext cx="3467548" cy="5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334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63938" y="2750639"/>
            <a:ext cx="2359819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Unique Products 2021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76552" y="3119885"/>
            <a:ext cx="5334743" cy="26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Expanded product count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94621" y="2065439"/>
            <a:ext cx="3467548" cy="531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0"/>
              </a:lnSpc>
            </a:pPr>
            <a:r>
              <a:rPr lang="en-US" sz="4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36%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476532" y="2750639"/>
            <a:ext cx="2303707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812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Product Growth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61019" y="3119885"/>
            <a:ext cx="5334743" cy="26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4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Year-over-year increase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88639" y="4002434"/>
            <a:ext cx="8448618" cy="5140490"/>
            <a:chOff x="0" y="0"/>
            <a:chExt cx="11264824" cy="685398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1264773" cy="6853936"/>
            </a:xfrm>
            <a:custGeom>
              <a:avLst/>
              <a:gdLst/>
              <a:ahLst/>
              <a:cxnLst/>
              <a:rect r="r" b="b" t="t" l="l"/>
              <a:pathLst>
                <a:path h="6853936" w="11264773">
                  <a:moveTo>
                    <a:pt x="0" y="0"/>
                  </a:moveTo>
                  <a:lnTo>
                    <a:pt x="11264773" y="0"/>
                  </a:lnTo>
                  <a:lnTo>
                    <a:pt x="11264773" y="6853936"/>
                  </a:lnTo>
                  <a:lnTo>
                    <a:pt x="0" y="6853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" r="0" b="-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91067" y="5262858"/>
            <a:ext cx="2303707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1067" y="5680024"/>
            <a:ext cx="5414067" cy="74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The company expanded its product offerings significantly, indicating a strong focus on product innovation and market expansion.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91067" y="6519710"/>
            <a:ext cx="2303707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Recommendation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1067" y="6936877"/>
            <a:ext cx="5414067" cy="505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Continue investing in product development to strengthen competitive positioning.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67658"/>
            <a:ext cx="8941495" cy="58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Product Segment Distribution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07146" y="1621184"/>
            <a:ext cx="11077480" cy="6017028"/>
            <a:chOff x="0" y="0"/>
            <a:chExt cx="14769973" cy="8022704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4769973" cy="8022717"/>
            </a:xfrm>
            <a:custGeom>
              <a:avLst/>
              <a:gdLst/>
              <a:ahLst/>
              <a:cxnLst/>
              <a:rect r="r" b="b" t="t" l="l"/>
              <a:pathLst>
                <a:path h="8022717" w="14769973">
                  <a:moveTo>
                    <a:pt x="0" y="0"/>
                  </a:moveTo>
                  <a:lnTo>
                    <a:pt x="14769973" y="0"/>
                  </a:lnTo>
                  <a:lnTo>
                    <a:pt x="14769973" y="8022717"/>
                  </a:lnTo>
                  <a:lnTo>
                    <a:pt x="0" y="8022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7694266"/>
            <a:ext cx="16303523" cy="1786833"/>
            <a:chOff x="0" y="0"/>
            <a:chExt cx="21738031" cy="23824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38082" cy="2382520"/>
            </a:xfrm>
            <a:custGeom>
              <a:avLst/>
              <a:gdLst/>
              <a:ahLst/>
              <a:cxnLst/>
              <a:rect r="r" b="b" t="t" l="l"/>
              <a:pathLst>
                <a:path h="2382520" w="21738082">
                  <a:moveTo>
                    <a:pt x="0" y="103251"/>
                  </a:moveTo>
                  <a:cubicBezTo>
                    <a:pt x="0" y="46228"/>
                    <a:pt x="46228" y="0"/>
                    <a:pt x="103251" y="0"/>
                  </a:cubicBezTo>
                  <a:lnTo>
                    <a:pt x="21634831" y="0"/>
                  </a:lnTo>
                  <a:cubicBezTo>
                    <a:pt x="21691854" y="0"/>
                    <a:pt x="21738082" y="46228"/>
                    <a:pt x="21738082" y="103251"/>
                  </a:cubicBezTo>
                  <a:lnTo>
                    <a:pt x="21738082" y="2279269"/>
                  </a:lnTo>
                  <a:cubicBezTo>
                    <a:pt x="21738082" y="2336292"/>
                    <a:pt x="21691854" y="2382520"/>
                    <a:pt x="21634831" y="2382520"/>
                  </a:cubicBezTo>
                  <a:lnTo>
                    <a:pt x="103251" y="2382520"/>
                  </a:lnTo>
                  <a:cubicBezTo>
                    <a:pt x="46228" y="2382520"/>
                    <a:pt x="0" y="2336292"/>
                    <a:pt x="0" y="2279269"/>
                  </a:cubicBezTo>
                  <a:close/>
                </a:path>
              </a:pathLst>
            </a:custGeom>
            <a:solidFill>
              <a:srgbClr val="D4D5D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76490" y="7877470"/>
            <a:ext cx="287836" cy="230238"/>
            <a:chOff x="0" y="0"/>
            <a:chExt cx="383781" cy="30698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83794" cy="306959"/>
            </a:xfrm>
            <a:custGeom>
              <a:avLst/>
              <a:gdLst/>
              <a:ahLst/>
              <a:cxnLst/>
              <a:rect r="r" b="b" t="t" l="l"/>
              <a:pathLst>
                <a:path h="306959" w="383794">
                  <a:moveTo>
                    <a:pt x="0" y="0"/>
                  </a:moveTo>
                  <a:lnTo>
                    <a:pt x="383794" y="0"/>
                  </a:lnTo>
                  <a:lnTo>
                    <a:pt x="383794" y="306959"/>
                  </a:lnTo>
                  <a:lnTo>
                    <a:pt x="0" y="3069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" r="3" b="-1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48568" y="7831341"/>
            <a:ext cx="2303707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8568" y="8248498"/>
            <a:ext cx="15462942" cy="26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Notebook and accessory segments dominate the company's product portfolio.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8568" y="8601818"/>
            <a:ext cx="2303707" cy="31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Recommendation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8568" y="9018984"/>
            <a:ext cx="15462942" cy="262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3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Focus investment and marketing on high-demand segments.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8666" y="731939"/>
            <a:ext cx="12245116" cy="84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Sales Channel Contribution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50834" y="3946474"/>
            <a:ext cx="3300708" cy="59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52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73%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588589" y="2193131"/>
            <a:ext cx="4025351" cy="4025351"/>
            <a:chOff x="0" y="0"/>
            <a:chExt cx="5367134" cy="536713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367147" cy="5367147"/>
            </a:xfrm>
            <a:custGeom>
              <a:avLst/>
              <a:gdLst/>
              <a:ahLst/>
              <a:cxnLst/>
              <a:rect r="r" b="b" t="t" l="l"/>
              <a:pathLst>
                <a:path h="5367147" w="5367147">
                  <a:moveTo>
                    <a:pt x="0" y="0"/>
                  </a:moveTo>
                  <a:lnTo>
                    <a:pt x="5367147" y="0"/>
                  </a:lnTo>
                  <a:lnTo>
                    <a:pt x="5367147" y="5367147"/>
                  </a:lnTo>
                  <a:lnTo>
                    <a:pt x="0" y="5367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924050" y="6510785"/>
            <a:ext cx="3354438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Retailer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666" y="7025278"/>
            <a:ext cx="5225205" cy="50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06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Largest revenue contributor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93498" y="3946474"/>
            <a:ext cx="3300708" cy="59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52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15%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31253" y="2193131"/>
            <a:ext cx="4025351" cy="4025351"/>
            <a:chOff x="0" y="0"/>
            <a:chExt cx="5367134" cy="5367134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5367147" cy="5367147"/>
            </a:xfrm>
            <a:custGeom>
              <a:avLst/>
              <a:gdLst/>
              <a:ahLst/>
              <a:cxnLst/>
              <a:rect r="r" b="b" t="t" l="l"/>
              <a:pathLst>
                <a:path h="5367147" w="5367147">
                  <a:moveTo>
                    <a:pt x="0" y="0"/>
                  </a:moveTo>
                  <a:lnTo>
                    <a:pt x="5367147" y="0"/>
                  </a:lnTo>
                  <a:lnTo>
                    <a:pt x="5367147" y="5367147"/>
                  </a:lnTo>
                  <a:lnTo>
                    <a:pt x="0" y="5367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466705" y="6510785"/>
            <a:ext cx="3354438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Direct Sales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31321" y="7025278"/>
            <a:ext cx="5225205" cy="50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06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Company-owned channels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6153" y="3946474"/>
            <a:ext cx="3300708" cy="594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</a:pPr>
            <a:r>
              <a:rPr lang="en-US" sz="52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11%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673908" y="2193131"/>
            <a:ext cx="4025351" cy="4025351"/>
            <a:chOff x="0" y="0"/>
            <a:chExt cx="5367134" cy="5367134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367147" cy="5367147"/>
            </a:xfrm>
            <a:custGeom>
              <a:avLst/>
              <a:gdLst/>
              <a:ahLst/>
              <a:cxnLst/>
              <a:rect r="r" b="b" t="t" l="l"/>
              <a:pathLst>
                <a:path h="5367147" w="5367147">
                  <a:moveTo>
                    <a:pt x="0" y="0"/>
                  </a:moveTo>
                  <a:lnTo>
                    <a:pt x="5367147" y="0"/>
                  </a:lnTo>
                  <a:lnTo>
                    <a:pt x="5367147" y="5367147"/>
                  </a:lnTo>
                  <a:lnTo>
                    <a:pt x="0" y="53671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009359" y="6510785"/>
            <a:ext cx="3354438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625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Distributor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73976" y="7025278"/>
            <a:ext cx="5225358" cy="50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06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Third-party partners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1098" y="8014545"/>
            <a:ext cx="15908236" cy="50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Insight:</a:t>
            </a:r>
            <a:r>
              <a:rPr lang="en-US" sz="206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Retail partnerships represent the largest driver of revenue.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1098" y="8718052"/>
            <a:ext cx="15908236" cy="503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062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Recommendation:</a:t>
            </a:r>
            <a:r>
              <a:rPr lang="en-US" sz="2062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Strengthen retailer relationships and optimize retail distribution strategies.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8666" y="7814520"/>
            <a:ext cx="38100" cy="1692773"/>
            <a:chOff x="0" y="0"/>
            <a:chExt cx="50800" cy="22570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800" cy="2257044"/>
            </a:xfrm>
            <a:custGeom>
              <a:avLst/>
              <a:gdLst/>
              <a:ahLst/>
              <a:cxnLst/>
              <a:rect r="r" b="b" t="t" l="l"/>
              <a:pathLst>
                <a:path h="2257044" w="50800">
                  <a:moveTo>
                    <a:pt x="0" y="0"/>
                  </a:moveTo>
                  <a:lnTo>
                    <a:pt x="50800" y="0"/>
                  </a:lnTo>
                  <a:lnTo>
                    <a:pt x="50800" y="2257044"/>
                  </a:lnTo>
                  <a:lnTo>
                    <a:pt x="0" y="2257044"/>
                  </a:lnTo>
                  <a:close/>
                </a:path>
              </a:pathLst>
            </a:custGeom>
            <a:solidFill>
              <a:srgbClr val="505468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76300"/>
            <a:ext cx="16267062" cy="900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Customer Discount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281685"/>
            <a:ext cx="1630352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Top customers receiving highest discounts in India: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3188" y="3139973"/>
            <a:ext cx="5283546" cy="1747990"/>
            <a:chOff x="0" y="0"/>
            <a:chExt cx="7044728" cy="23306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5400" y="25400"/>
              <a:ext cx="6994017" cy="2279904"/>
            </a:xfrm>
            <a:custGeom>
              <a:avLst/>
              <a:gdLst/>
              <a:ahLst/>
              <a:cxnLst/>
              <a:rect r="r" b="b" t="t" l="l"/>
              <a:pathLst>
                <a:path h="2279904" w="6994017">
                  <a:moveTo>
                    <a:pt x="0" y="243840"/>
                  </a:moveTo>
                  <a:cubicBezTo>
                    <a:pt x="0" y="109220"/>
                    <a:pt x="110744" y="0"/>
                    <a:pt x="247523" y="0"/>
                  </a:cubicBezTo>
                  <a:lnTo>
                    <a:pt x="6746494" y="0"/>
                  </a:lnTo>
                  <a:cubicBezTo>
                    <a:pt x="6883146" y="0"/>
                    <a:pt x="6994017" y="109220"/>
                    <a:pt x="6994017" y="243840"/>
                  </a:cubicBezTo>
                  <a:lnTo>
                    <a:pt x="6994017" y="2036064"/>
                  </a:lnTo>
                  <a:cubicBezTo>
                    <a:pt x="6994017" y="2170684"/>
                    <a:pt x="6883273" y="2279904"/>
                    <a:pt x="6746494" y="2279904"/>
                  </a:cubicBezTo>
                  <a:lnTo>
                    <a:pt x="247523" y="2279904"/>
                  </a:lnTo>
                  <a:cubicBezTo>
                    <a:pt x="110871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44817" cy="2330704"/>
            </a:xfrm>
            <a:custGeom>
              <a:avLst/>
              <a:gdLst/>
              <a:ahLst/>
              <a:cxnLst/>
              <a:rect r="r" b="b" t="t" l="l"/>
              <a:pathLst>
                <a:path h="2330704" w="7044817">
                  <a:moveTo>
                    <a:pt x="0" y="269240"/>
                  </a:moveTo>
                  <a:cubicBezTo>
                    <a:pt x="0" y="120142"/>
                    <a:pt x="122555" y="0"/>
                    <a:pt x="272923" y="0"/>
                  </a:cubicBezTo>
                  <a:lnTo>
                    <a:pt x="6771894" y="0"/>
                  </a:lnTo>
                  <a:lnTo>
                    <a:pt x="6771894" y="25400"/>
                  </a:lnTo>
                  <a:lnTo>
                    <a:pt x="6771894" y="0"/>
                  </a:lnTo>
                  <a:cubicBezTo>
                    <a:pt x="6922262" y="0"/>
                    <a:pt x="7044817" y="120142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061464"/>
                  </a:lnTo>
                  <a:lnTo>
                    <a:pt x="7019417" y="2061464"/>
                  </a:lnTo>
                  <a:lnTo>
                    <a:pt x="7044817" y="2061464"/>
                  </a:lnTo>
                  <a:cubicBezTo>
                    <a:pt x="7044817" y="2210562"/>
                    <a:pt x="6922262" y="2330704"/>
                    <a:pt x="6771894" y="2330704"/>
                  </a:cubicBezTo>
                  <a:lnTo>
                    <a:pt x="6771894" y="2305304"/>
                  </a:lnTo>
                  <a:lnTo>
                    <a:pt x="6771894" y="2330704"/>
                  </a:lnTo>
                  <a:lnTo>
                    <a:pt x="272923" y="2330704"/>
                  </a:lnTo>
                  <a:lnTo>
                    <a:pt x="272923" y="2305304"/>
                  </a:lnTo>
                  <a:lnTo>
                    <a:pt x="272923" y="2330704"/>
                  </a:lnTo>
                  <a:cubicBezTo>
                    <a:pt x="122555" y="2330704"/>
                    <a:pt x="0" y="2210435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49860" y="2279904"/>
                    <a:pt x="272923" y="2279904"/>
                  </a:cubicBezTo>
                  <a:lnTo>
                    <a:pt x="6771894" y="2279904"/>
                  </a:lnTo>
                  <a:cubicBezTo>
                    <a:pt x="6894830" y="2279904"/>
                    <a:pt x="6994017" y="2181733"/>
                    <a:pt x="6994017" y="2061464"/>
                  </a:cubicBezTo>
                  <a:lnTo>
                    <a:pt x="6994017" y="269240"/>
                  </a:lnTo>
                  <a:cubicBezTo>
                    <a:pt x="6994017" y="148971"/>
                    <a:pt x="6894957" y="50800"/>
                    <a:pt x="6771894" y="50800"/>
                  </a:cubicBezTo>
                  <a:lnTo>
                    <a:pt x="272923" y="50800"/>
                  </a:lnTo>
                  <a:lnTo>
                    <a:pt x="272923" y="25400"/>
                  </a:lnTo>
                  <a:lnTo>
                    <a:pt x="272923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4138" y="3159023"/>
            <a:ext cx="152400" cy="1709890"/>
            <a:chOff x="0" y="0"/>
            <a:chExt cx="203200" cy="2279853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28159" y="34425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Flipkart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8159" y="3988889"/>
            <a:ext cx="44879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30.83%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discount level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02156" y="3139973"/>
            <a:ext cx="5283546" cy="1747990"/>
            <a:chOff x="0" y="0"/>
            <a:chExt cx="7044728" cy="23306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25400" y="25400"/>
              <a:ext cx="6994017" cy="2279904"/>
            </a:xfrm>
            <a:custGeom>
              <a:avLst/>
              <a:gdLst/>
              <a:ahLst/>
              <a:cxnLst/>
              <a:rect r="r" b="b" t="t" l="l"/>
              <a:pathLst>
                <a:path h="2279904" w="6994017">
                  <a:moveTo>
                    <a:pt x="0" y="243840"/>
                  </a:moveTo>
                  <a:cubicBezTo>
                    <a:pt x="0" y="109220"/>
                    <a:pt x="110744" y="0"/>
                    <a:pt x="247523" y="0"/>
                  </a:cubicBezTo>
                  <a:lnTo>
                    <a:pt x="6746494" y="0"/>
                  </a:lnTo>
                  <a:cubicBezTo>
                    <a:pt x="6883146" y="0"/>
                    <a:pt x="6994017" y="109220"/>
                    <a:pt x="6994017" y="243840"/>
                  </a:cubicBezTo>
                  <a:lnTo>
                    <a:pt x="6994017" y="2036064"/>
                  </a:lnTo>
                  <a:cubicBezTo>
                    <a:pt x="6994017" y="2170684"/>
                    <a:pt x="6883273" y="2279904"/>
                    <a:pt x="6746494" y="2279904"/>
                  </a:cubicBezTo>
                  <a:lnTo>
                    <a:pt x="247523" y="2279904"/>
                  </a:lnTo>
                  <a:cubicBezTo>
                    <a:pt x="110871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4817" cy="2330704"/>
            </a:xfrm>
            <a:custGeom>
              <a:avLst/>
              <a:gdLst/>
              <a:ahLst/>
              <a:cxnLst/>
              <a:rect r="r" b="b" t="t" l="l"/>
              <a:pathLst>
                <a:path h="2330704" w="7044817">
                  <a:moveTo>
                    <a:pt x="0" y="269240"/>
                  </a:moveTo>
                  <a:cubicBezTo>
                    <a:pt x="0" y="120142"/>
                    <a:pt x="122555" y="0"/>
                    <a:pt x="272923" y="0"/>
                  </a:cubicBezTo>
                  <a:lnTo>
                    <a:pt x="6771894" y="0"/>
                  </a:lnTo>
                  <a:lnTo>
                    <a:pt x="6771894" y="25400"/>
                  </a:lnTo>
                  <a:lnTo>
                    <a:pt x="6771894" y="0"/>
                  </a:lnTo>
                  <a:cubicBezTo>
                    <a:pt x="6922262" y="0"/>
                    <a:pt x="7044817" y="120142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061464"/>
                  </a:lnTo>
                  <a:lnTo>
                    <a:pt x="7019417" y="2061464"/>
                  </a:lnTo>
                  <a:lnTo>
                    <a:pt x="7044817" y="2061464"/>
                  </a:lnTo>
                  <a:cubicBezTo>
                    <a:pt x="7044817" y="2210562"/>
                    <a:pt x="6922262" y="2330704"/>
                    <a:pt x="6771894" y="2330704"/>
                  </a:cubicBezTo>
                  <a:lnTo>
                    <a:pt x="6771894" y="2305304"/>
                  </a:lnTo>
                  <a:lnTo>
                    <a:pt x="6771894" y="2330704"/>
                  </a:lnTo>
                  <a:lnTo>
                    <a:pt x="272923" y="2330704"/>
                  </a:lnTo>
                  <a:lnTo>
                    <a:pt x="272923" y="2305304"/>
                  </a:lnTo>
                  <a:lnTo>
                    <a:pt x="272923" y="2330704"/>
                  </a:lnTo>
                  <a:cubicBezTo>
                    <a:pt x="122555" y="2330704"/>
                    <a:pt x="0" y="2210435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49860" y="2279904"/>
                    <a:pt x="272923" y="2279904"/>
                  </a:cubicBezTo>
                  <a:lnTo>
                    <a:pt x="6771894" y="2279904"/>
                  </a:lnTo>
                  <a:cubicBezTo>
                    <a:pt x="6894830" y="2279904"/>
                    <a:pt x="6994017" y="2181733"/>
                    <a:pt x="6994017" y="2061464"/>
                  </a:cubicBezTo>
                  <a:lnTo>
                    <a:pt x="6994017" y="269240"/>
                  </a:lnTo>
                  <a:cubicBezTo>
                    <a:pt x="6994017" y="148971"/>
                    <a:pt x="6894957" y="50800"/>
                    <a:pt x="6771894" y="50800"/>
                  </a:cubicBezTo>
                  <a:lnTo>
                    <a:pt x="272923" y="50800"/>
                  </a:lnTo>
                  <a:lnTo>
                    <a:pt x="272923" y="25400"/>
                  </a:lnTo>
                  <a:lnTo>
                    <a:pt x="272923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483106" y="3159023"/>
            <a:ext cx="152400" cy="1709890"/>
            <a:chOff x="0" y="0"/>
            <a:chExt cx="203200" cy="2279853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2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957117" y="34425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Viveks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7117" y="3988889"/>
            <a:ext cx="44879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30.38%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discount level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031113" y="3139973"/>
            <a:ext cx="5283546" cy="1747990"/>
            <a:chOff x="0" y="0"/>
            <a:chExt cx="7044728" cy="233065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6994017" cy="2279904"/>
            </a:xfrm>
            <a:custGeom>
              <a:avLst/>
              <a:gdLst/>
              <a:ahLst/>
              <a:cxnLst/>
              <a:rect r="r" b="b" t="t" l="l"/>
              <a:pathLst>
                <a:path h="2279904" w="6994017">
                  <a:moveTo>
                    <a:pt x="0" y="243840"/>
                  </a:moveTo>
                  <a:cubicBezTo>
                    <a:pt x="0" y="109220"/>
                    <a:pt x="110744" y="0"/>
                    <a:pt x="247523" y="0"/>
                  </a:cubicBezTo>
                  <a:lnTo>
                    <a:pt x="6746494" y="0"/>
                  </a:lnTo>
                  <a:cubicBezTo>
                    <a:pt x="6883146" y="0"/>
                    <a:pt x="6994017" y="109220"/>
                    <a:pt x="6994017" y="243840"/>
                  </a:cubicBezTo>
                  <a:lnTo>
                    <a:pt x="6994017" y="2036064"/>
                  </a:lnTo>
                  <a:cubicBezTo>
                    <a:pt x="6994017" y="2170684"/>
                    <a:pt x="6883273" y="2279904"/>
                    <a:pt x="6746494" y="2279904"/>
                  </a:cubicBezTo>
                  <a:lnTo>
                    <a:pt x="247523" y="2279904"/>
                  </a:lnTo>
                  <a:cubicBezTo>
                    <a:pt x="110871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44817" cy="2330704"/>
            </a:xfrm>
            <a:custGeom>
              <a:avLst/>
              <a:gdLst/>
              <a:ahLst/>
              <a:cxnLst/>
              <a:rect r="r" b="b" t="t" l="l"/>
              <a:pathLst>
                <a:path h="2330704" w="7044817">
                  <a:moveTo>
                    <a:pt x="0" y="269240"/>
                  </a:moveTo>
                  <a:cubicBezTo>
                    <a:pt x="0" y="120142"/>
                    <a:pt x="122555" y="0"/>
                    <a:pt x="272923" y="0"/>
                  </a:cubicBezTo>
                  <a:lnTo>
                    <a:pt x="6771894" y="0"/>
                  </a:lnTo>
                  <a:lnTo>
                    <a:pt x="6771894" y="25400"/>
                  </a:lnTo>
                  <a:lnTo>
                    <a:pt x="6771894" y="0"/>
                  </a:lnTo>
                  <a:cubicBezTo>
                    <a:pt x="6922262" y="0"/>
                    <a:pt x="7044817" y="120142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061464"/>
                  </a:lnTo>
                  <a:lnTo>
                    <a:pt x="7019417" y="2061464"/>
                  </a:lnTo>
                  <a:lnTo>
                    <a:pt x="7044817" y="2061464"/>
                  </a:lnTo>
                  <a:cubicBezTo>
                    <a:pt x="7044817" y="2210562"/>
                    <a:pt x="6922262" y="2330704"/>
                    <a:pt x="6771894" y="2330704"/>
                  </a:cubicBezTo>
                  <a:lnTo>
                    <a:pt x="6771894" y="2305304"/>
                  </a:lnTo>
                  <a:lnTo>
                    <a:pt x="6771894" y="2330704"/>
                  </a:lnTo>
                  <a:lnTo>
                    <a:pt x="272923" y="2330704"/>
                  </a:lnTo>
                  <a:lnTo>
                    <a:pt x="272923" y="2305304"/>
                  </a:lnTo>
                  <a:lnTo>
                    <a:pt x="272923" y="2330704"/>
                  </a:lnTo>
                  <a:cubicBezTo>
                    <a:pt x="122555" y="2330704"/>
                    <a:pt x="0" y="2210435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49860" y="2279904"/>
                    <a:pt x="272923" y="2279904"/>
                  </a:cubicBezTo>
                  <a:lnTo>
                    <a:pt x="6771894" y="2279904"/>
                  </a:lnTo>
                  <a:cubicBezTo>
                    <a:pt x="6894830" y="2279904"/>
                    <a:pt x="6994017" y="2181733"/>
                    <a:pt x="6994017" y="2061464"/>
                  </a:cubicBezTo>
                  <a:lnTo>
                    <a:pt x="6994017" y="269240"/>
                  </a:lnTo>
                  <a:cubicBezTo>
                    <a:pt x="6994017" y="148971"/>
                    <a:pt x="6894957" y="50800"/>
                    <a:pt x="6771894" y="50800"/>
                  </a:cubicBezTo>
                  <a:lnTo>
                    <a:pt x="272923" y="50800"/>
                  </a:lnTo>
                  <a:lnTo>
                    <a:pt x="272923" y="25400"/>
                  </a:lnTo>
                  <a:lnTo>
                    <a:pt x="272923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12063" y="3159023"/>
            <a:ext cx="152400" cy="1709890"/>
            <a:chOff x="0" y="0"/>
            <a:chExt cx="203200" cy="2279853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2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86084" y="3442545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Ezone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486084" y="3988889"/>
            <a:ext cx="44879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30.28%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discount level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3188" y="5133384"/>
            <a:ext cx="5283546" cy="1747990"/>
            <a:chOff x="0" y="0"/>
            <a:chExt cx="7044728" cy="23306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25400" y="25400"/>
              <a:ext cx="6994017" cy="2279904"/>
            </a:xfrm>
            <a:custGeom>
              <a:avLst/>
              <a:gdLst/>
              <a:ahLst/>
              <a:cxnLst/>
              <a:rect r="r" b="b" t="t" l="l"/>
              <a:pathLst>
                <a:path h="2279904" w="6994017">
                  <a:moveTo>
                    <a:pt x="0" y="243840"/>
                  </a:moveTo>
                  <a:cubicBezTo>
                    <a:pt x="0" y="109220"/>
                    <a:pt x="110744" y="0"/>
                    <a:pt x="247523" y="0"/>
                  </a:cubicBezTo>
                  <a:lnTo>
                    <a:pt x="6746494" y="0"/>
                  </a:lnTo>
                  <a:cubicBezTo>
                    <a:pt x="6883146" y="0"/>
                    <a:pt x="6994017" y="109220"/>
                    <a:pt x="6994017" y="243840"/>
                  </a:cubicBezTo>
                  <a:lnTo>
                    <a:pt x="6994017" y="2036064"/>
                  </a:lnTo>
                  <a:cubicBezTo>
                    <a:pt x="6994017" y="2170684"/>
                    <a:pt x="6883273" y="2279904"/>
                    <a:pt x="6746494" y="2279904"/>
                  </a:cubicBezTo>
                  <a:lnTo>
                    <a:pt x="247523" y="2279904"/>
                  </a:lnTo>
                  <a:cubicBezTo>
                    <a:pt x="110871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44817" cy="2330704"/>
            </a:xfrm>
            <a:custGeom>
              <a:avLst/>
              <a:gdLst/>
              <a:ahLst/>
              <a:cxnLst/>
              <a:rect r="r" b="b" t="t" l="l"/>
              <a:pathLst>
                <a:path h="2330704" w="7044817">
                  <a:moveTo>
                    <a:pt x="0" y="269240"/>
                  </a:moveTo>
                  <a:cubicBezTo>
                    <a:pt x="0" y="120142"/>
                    <a:pt x="122555" y="0"/>
                    <a:pt x="272923" y="0"/>
                  </a:cubicBezTo>
                  <a:lnTo>
                    <a:pt x="6771894" y="0"/>
                  </a:lnTo>
                  <a:lnTo>
                    <a:pt x="6771894" y="25400"/>
                  </a:lnTo>
                  <a:lnTo>
                    <a:pt x="6771894" y="0"/>
                  </a:lnTo>
                  <a:cubicBezTo>
                    <a:pt x="6922262" y="0"/>
                    <a:pt x="7044817" y="120142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061464"/>
                  </a:lnTo>
                  <a:lnTo>
                    <a:pt x="7019417" y="2061464"/>
                  </a:lnTo>
                  <a:lnTo>
                    <a:pt x="7044817" y="2061464"/>
                  </a:lnTo>
                  <a:cubicBezTo>
                    <a:pt x="7044817" y="2210562"/>
                    <a:pt x="6922262" y="2330704"/>
                    <a:pt x="6771894" y="2330704"/>
                  </a:cubicBezTo>
                  <a:lnTo>
                    <a:pt x="6771894" y="2305304"/>
                  </a:lnTo>
                  <a:lnTo>
                    <a:pt x="6771894" y="2330704"/>
                  </a:lnTo>
                  <a:lnTo>
                    <a:pt x="272923" y="2330704"/>
                  </a:lnTo>
                  <a:lnTo>
                    <a:pt x="272923" y="2305304"/>
                  </a:lnTo>
                  <a:lnTo>
                    <a:pt x="272923" y="2330704"/>
                  </a:lnTo>
                  <a:cubicBezTo>
                    <a:pt x="122555" y="2330704"/>
                    <a:pt x="0" y="2210435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49860" y="2279904"/>
                    <a:pt x="272923" y="2279904"/>
                  </a:cubicBezTo>
                  <a:lnTo>
                    <a:pt x="6771894" y="2279904"/>
                  </a:lnTo>
                  <a:cubicBezTo>
                    <a:pt x="6894830" y="2279904"/>
                    <a:pt x="6994017" y="2181733"/>
                    <a:pt x="6994017" y="2061464"/>
                  </a:cubicBezTo>
                  <a:lnTo>
                    <a:pt x="6994017" y="269240"/>
                  </a:lnTo>
                  <a:cubicBezTo>
                    <a:pt x="6994017" y="148971"/>
                    <a:pt x="6894957" y="50800"/>
                    <a:pt x="6771894" y="50800"/>
                  </a:cubicBezTo>
                  <a:lnTo>
                    <a:pt x="272923" y="50800"/>
                  </a:lnTo>
                  <a:lnTo>
                    <a:pt x="272923" y="25400"/>
                  </a:lnTo>
                  <a:lnTo>
                    <a:pt x="272923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54138" y="5152434"/>
            <a:ext cx="152400" cy="1709890"/>
            <a:chOff x="0" y="0"/>
            <a:chExt cx="203200" cy="2279853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2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28159" y="543594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Croma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28159" y="5982291"/>
            <a:ext cx="44879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30.25%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discount level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502156" y="5133384"/>
            <a:ext cx="5283546" cy="1747990"/>
            <a:chOff x="0" y="0"/>
            <a:chExt cx="7044728" cy="233065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25400" y="25400"/>
              <a:ext cx="6994017" cy="2279904"/>
            </a:xfrm>
            <a:custGeom>
              <a:avLst/>
              <a:gdLst/>
              <a:ahLst/>
              <a:cxnLst/>
              <a:rect r="r" b="b" t="t" l="l"/>
              <a:pathLst>
                <a:path h="2279904" w="6994017">
                  <a:moveTo>
                    <a:pt x="0" y="243840"/>
                  </a:moveTo>
                  <a:cubicBezTo>
                    <a:pt x="0" y="109220"/>
                    <a:pt x="110744" y="0"/>
                    <a:pt x="247523" y="0"/>
                  </a:cubicBezTo>
                  <a:lnTo>
                    <a:pt x="6746494" y="0"/>
                  </a:lnTo>
                  <a:cubicBezTo>
                    <a:pt x="6883146" y="0"/>
                    <a:pt x="6994017" y="109220"/>
                    <a:pt x="6994017" y="243840"/>
                  </a:cubicBezTo>
                  <a:lnTo>
                    <a:pt x="6994017" y="2036064"/>
                  </a:lnTo>
                  <a:cubicBezTo>
                    <a:pt x="6994017" y="2170684"/>
                    <a:pt x="6883273" y="2279904"/>
                    <a:pt x="6746494" y="2279904"/>
                  </a:cubicBezTo>
                  <a:lnTo>
                    <a:pt x="247523" y="2279904"/>
                  </a:lnTo>
                  <a:cubicBezTo>
                    <a:pt x="110871" y="2279904"/>
                    <a:pt x="0" y="2170684"/>
                    <a:pt x="0" y="2036064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044817" cy="2330704"/>
            </a:xfrm>
            <a:custGeom>
              <a:avLst/>
              <a:gdLst/>
              <a:ahLst/>
              <a:cxnLst/>
              <a:rect r="r" b="b" t="t" l="l"/>
              <a:pathLst>
                <a:path h="2330704" w="7044817">
                  <a:moveTo>
                    <a:pt x="0" y="269240"/>
                  </a:moveTo>
                  <a:cubicBezTo>
                    <a:pt x="0" y="120142"/>
                    <a:pt x="122555" y="0"/>
                    <a:pt x="272923" y="0"/>
                  </a:cubicBezTo>
                  <a:lnTo>
                    <a:pt x="6771894" y="0"/>
                  </a:lnTo>
                  <a:lnTo>
                    <a:pt x="6771894" y="25400"/>
                  </a:lnTo>
                  <a:lnTo>
                    <a:pt x="6771894" y="0"/>
                  </a:lnTo>
                  <a:cubicBezTo>
                    <a:pt x="6922262" y="0"/>
                    <a:pt x="7044817" y="120142"/>
                    <a:pt x="7044817" y="269240"/>
                  </a:cubicBezTo>
                  <a:lnTo>
                    <a:pt x="7019417" y="269240"/>
                  </a:lnTo>
                  <a:lnTo>
                    <a:pt x="7044817" y="269240"/>
                  </a:lnTo>
                  <a:lnTo>
                    <a:pt x="7044817" y="2061464"/>
                  </a:lnTo>
                  <a:lnTo>
                    <a:pt x="7019417" y="2061464"/>
                  </a:lnTo>
                  <a:lnTo>
                    <a:pt x="7044817" y="2061464"/>
                  </a:lnTo>
                  <a:cubicBezTo>
                    <a:pt x="7044817" y="2210562"/>
                    <a:pt x="6922262" y="2330704"/>
                    <a:pt x="6771894" y="2330704"/>
                  </a:cubicBezTo>
                  <a:lnTo>
                    <a:pt x="6771894" y="2305304"/>
                  </a:lnTo>
                  <a:lnTo>
                    <a:pt x="6771894" y="2330704"/>
                  </a:lnTo>
                  <a:lnTo>
                    <a:pt x="272923" y="2330704"/>
                  </a:lnTo>
                  <a:lnTo>
                    <a:pt x="272923" y="2305304"/>
                  </a:lnTo>
                  <a:lnTo>
                    <a:pt x="272923" y="2330704"/>
                  </a:lnTo>
                  <a:cubicBezTo>
                    <a:pt x="122555" y="2330704"/>
                    <a:pt x="0" y="2210435"/>
                    <a:pt x="0" y="2061464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061464"/>
                  </a:lnTo>
                  <a:lnTo>
                    <a:pt x="25400" y="2061464"/>
                  </a:lnTo>
                  <a:lnTo>
                    <a:pt x="50800" y="2061464"/>
                  </a:lnTo>
                  <a:cubicBezTo>
                    <a:pt x="50800" y="2181733"/>
                    <a:pt x="149860" y="2279904"/>
                    <a:pt x="272923" y="2279904"/>
                  </a:cubicBezTo>
                  <a:lnTo>
                    <a:pt x="6771894" y="2279904"/>
                  </a:lnTo>
                  <a:cubicBezTo>
                    <a:pt x="6894830" y="2279904"/>
                    <a:pt x="6994017" y="2181733"/>
                    <a:pt x="6994017" y="2061464"/>
                  </a:cubicBezTo>
                  <a:lnTo>
                    <a:pt x="6994017" y="269240"/>
                  </a:lnTo>
                  <a:cubicBezTo>
                    <a:pt x="6994017" y="148971"/>
                    <a:pt x="6894957" y="50800"/>
                    <a:pt x="6771894" y="50800"/>
                  </a:cubicBezTo>
                  <a:lnTo>
                    <a:pt x="272923" y="50800"/>
                  </a:lnTo>
                  <a:lnTo>
                    <a:pt x="272923" y="25400"/>
                  </a:lnTo>
                  <a:lnTo>
                    <a:pt x="272923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83106" y="5152434"/>
            <a:ext cx="152400" cy="1709890"/>
            <a:chOff x="0" y="0"/>
            <a:chExt cx="203200" cy="2279853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203200" cy="2279904"/>
            </a:xfrm>
            <a:custGeom>
              <a:avLst/>
              <a:gdLst/>
              <a:ahLst/>
              <a:cxnLst/>
              <a:rect r="r" b="b" t="t" l="l"/>
              <a:pathLst>
                <a:path h="2279904" w="203200">
                  <a:moveTo>
                    <a:pt x="0" y="0"/>
                  </a:moveTo>
                  <a:lnTo>
                    <a:pt x="203200" y="0"/>
                  </a:lnTo>
                  <a:lnTo>
                    <a:pt x="203200" y="2279904"/>
                  </a:lnTo>
                  <a:lnTo>
                    <a:pt x="0" y="2279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4" r="0" b="-132"/>
              </a:stretch>
            </a:blip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6957117" y="5435946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Amazon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57117" y="5982291"/>
            <a:ext cx="4487913" cy="55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29.33%</a:t>
            </a: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discount level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2238" y="742667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Insight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2238" y="8086430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Large retail and e-commerce partners receive significant discounts due to high purchase volumes.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499397" y="7426671"/>
            <a:ext cx="3544043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Recommendation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499397" y="8086430"/>
            <a:ext cx="7805890" cy="101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Regularly review discount strategies to maintain profitability.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69912"/>
            <a:ext cx="132584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Key Insights &amp; 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1655121"/>
            <a:ext cx="12227643" cy="3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Key Insights from the Analysis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2259359"/>
            <a:ext cx="456009" cy="456009"/>
            <a:chOff x="0" y="0"/>
            <a:chExt cx="608012" cy="6080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595249" cy="595249"/>
            </a:xfrm>
            <a:custGeom>
              <a:avLst/>
              <a:gdLst/>
              <a:ahLst/>
              <a:cxnLst/>
              <a:rect r="r" b="b" t="t" l="l"/>
              <a:pathLst>
                <a:path h="595249" w="595249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484124" y="0"/>
                  </a:lnTo>
                  <a:cubicBezTo>
                    <a:pt x="545465" y="0"/>
                    <a:pt x="595249" y="49784"/>
                    <a:pt x="595249" y="111125"/>
                  </a:cubicBezTo>
                  <a:lnTo>
                    <a:pt x="595249" y="484124"/>
                  </a:lnTo>
                  <a:cubicBezTo>
                    <a:pt x="595249" y="545465"/>
                    <a:pt x="545465" y="595249"/>
                    <a:pt x="484124" y="595249"/>
                  </a:cubicBezTo>
                  <a:lnTo>
                    <a:pt x="111125" y="595249"/>
                  </a:lnTo>
                  <a:cubicBezTo>
                    <a:pt x="49784" y="595376"/>
                    <a:pt x="0" y="545592"/>
                    <a:pt x="0" y="484124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7949" cy="607949"/>
            </a:xfrm>
            <a:custGeom>
              <a:avLst/>
              <a:gdLst/>
              <a:ahLst/>
              <a:cxnLst/>
              <a:rect r="r" b="b" t="t" l="l"/>
              <a:pathLst>
                <a:path h="607949" w="60794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cubicBezTo>
                    <a:pt x="555371" y="0"/>
                    <a:pt x="607949" y="52578"/>
                    <a:pt x="607949" y="117475"/>
                  </a:cubicBezTo>
                  <a:lnTo>
                    <a:pt x="601599" y="117475"/>
                  </a:lnTo>
                  <a:lnTo>
                    <a:pt x="607949" y="117475"/>
                  </a:lnTo>
                  <a:lnTo>
                    <a:pt x="607949" y="490474"/>
                  </a:lnTo>
                  <a:lnTo>
                    <a:pt x="601599" y="490474"/>
                  </a:lnTo>
                  <a:lnTo>
                    <a:pt x="607949" y="490474"/>
                  </a:lnTo>
                  <a:cubicBezTo>
                    <a:pt x="607949" y="555371"/>
                    <a:pt x="555371" y="607949"/>
                    <a:pt x="490474" y="607949"/>
                  </a:cubicBezTo>
                  <a:lnTo>
                    <a:pt x="490474" y="601599"/>
                  </a:lnTo>
                  <a:lnTo>
                    <a:pt x="490474" y="607949"/>
                  </a:lnTo>
                  <a:lnTo>
                    <a:pt x="117475" y="607949"/>
                  </a:lnTo>
                  <a:lnTo>
                    <a:pt x="117475" y="601599"/>
                  </a:lnTo>
                  <a:lnTo>
                    <a:pt x="117475" y="607949"/>
                  </a:lnTo>
                  <a:cubicBezTo>
                    <a:pt x="52578" y="608076"/>
                    <a:pt x="0" y="555371"/>
                    <a:pt x="0" y="490474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490474"/>
                  </a:lnTo>
                  <a:lnTo>
                    <a:pt x="6350" y="490474"/>
                  </a:lnTo>
                  <a:lnTo>
                    <a:pt x="12700" y="490474"/>
                  </a:lnTo>
                  <a:cubicBezTo>
                    <a:pt x="12700" y="548386"/>
                    <a:pt x="59563" y="595249"/>
                    <a:pt x="117475" y="595249"/>
                  </a:cubicBezTo>
                  <a:lnTo>
                    <a:pt x="490474" y="595249"/>
                  </a:lnTo>
                  <a:cubicBezTo>
                    <a:pt x="548386" y="595249"/>
                    <a:pt x="595249" y="548386"/>
                    <a:pt x="595249" y="490474"/>
                  </a:cubicBezTo>
                  <a:lnTo>
                    <a:pt x="595249" y="117475"/>
                  </a:lnTo>
                  <a:cubicBezTo>
                    <a:pt x="595376" y="59563"/>
                    <a:pt x="548386" y="12700"/>
                    <a:pt x="490474" y="12700"/>
                  </a:cubicBezTo>
                  <a:lnTo>
                    <a:pt x="117475" y="12700"/>
                  </a:lnTo>
                  <a:lnTo>
                    <a:pt x="117475" y="6350"/>
                  </a:lnTo>
                  <a:lnTo>
                    <a:pt x="117475" y="12700"/>
                  </a:lnTo>
                  <a:cubicBezTo>
                    <a:pt x="59563" y="12700"/>
                    <a:pt x="12700" y="59563"/>
                    <a:pt x="12700" y="11747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77578" y="2303707"/>
            <a:ext cx="10995140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Product portfolio grew by </a:t>
            </a:r>
            <a:r>
              <a:rPr lang="en-US" sz="1937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36% between 2020 and 2021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87476" y="2983706"/>
            <a:ext cx="456009" cy="456009"/>
            <a:chOff x="0" y="0"/>
            <a:chExt cx="608012" cy="6080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350" y="6350"/>
              <a:ext cx="595249" cy="595249"/>
            </a:xfrm>
            <a:custGeom>
              <a:avLst/>
              <a:gdLst/>
              <a:ahLst/>
              <a:cxnLst/>
              <a:rect r="r" b="b" t="t" l="l"/>
              <a:pathLst>
                <a:path h="595249" w="595249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484124" y="0"/>
                  </a:lnTo>
                  <a:cubicBezTo>
                    <a:pt x="545465" y="0"/>
                    <a:pt x="595249" y="49784"/>
                    <a:pt x="595249" y="111125"/>
                  </a:cubicBezTo>
                  <a:lnTo>
                    <a:pt x="595249" y="484124"/>
                  </a:lnTo>
                  <a:cubicBezTo>
                    <a:pt x="595249" y="545465"/>
                    <a:pt x="545465" y="595249"/>
                    <a:pt x="484124" y="595249"/>
                  </a:cubicBezTo>
                  <a:lnTo>
                    <a:pt x="111125" y="595249"/>
                  </a:lnTo>
                  <a:cubicBezTo>
                    <a:pt x="49784" y="595376"/>
                    <a:pt x="0" y="545592"/>
                    <a:pt x="0" y="484124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7949" cy="607949"/>
            </a:xfrm>
            <a:custGeom>
              <a:avLst/>
              <a:gdLst/>
              <a:ahLst/>
              <a:cxnLst/>
              <a:rect r="r" b="b" t="t" l="l"/>
              <a:pathLst>
                <a:path h="607949" w="60794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cubicBezTo>
                    <a:pt x="555371" y="0"/>
                    <a:pt x="607949" y="52578"/>
                    <a:pt x="607949" y="117475"/>
                  </a:cubicBezTo>
                  <a:lnTo>
                    <a:pt x="601599" y="117475"/>
                  </a:lnTo>
                  <a:lnTo>
                    <a:pt x="607949" y="117475"/>
                  </a:lnTo>
                  <a:lnTo>
                    <a:pt x="607949" y="490474"/>
                  </a:lnTo>
                  <a:lnTo>
                    <a:pt x="601599" y="490474"/>
                  </a:lnTo>
                  <a:lnTo>
                    <a:pt x="607949" y="490474"/>
                  </a:lnTo>
                  <a:cubicBezTo>
                    <a:pt x="607949" y="555371"/>
                    <a:pt x="555371" y="607949"/>
                    <a:pt x="490474" y="607949"/>
                  </a:cubicBezTo>
                  <a:lnTo>
                    <a:pt x="490474" y="601599"/>
                  </a:lnTo>
                  <a:lnTo>
                    <a:pt x="490474" y="607949"/>
                  </a:lnTo>
                  <a:lnTo>
                    <a:pt x="117475" y="607949"/>
                  </a:lnTo>
                  <a:lnTo>
                    <a:pt x="117475" y="601599"/>
                  </a:lnTo>
                  <a:lnTo>
                    <a:pt x="117475" y="607949"/>
                  </a:lnTo>
                  <a:cubicBezTo>
                    <a:pt x="52578" y="608076"/>
                    <a:pt x="0" y="555371"/>
                    <a:pt x="0" y="490474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490474"/>
                  </a:lnTo>
                  <a:lnTo>
                    <a:pt x="6350" y="490474"/>
                  </a:lnTo>
                  <a:lnTo>
                    <a:pt x="12700" y="490474"/>
                  </a:lnTo>
                  <a:cubicBezTo>
                    <a:pt x="12700" y="548386"/>
                    <a:pt x="59563" y="595249"/>
                    <a:pt x="117475" y="595249"/>
                  </a:cubicBezTo>
                  <a:lnTo>
                    <a:pt x="490474" y="595249"/>
                  </a:lnTo>
                  <a:cubicBezTo>
                    <a:pt x="548386" y="595249"/>
                    <a:pt x="595249" y="548386"/>
                    <a:pt x="595249" y="490474"/>
                  </a:cubicBezTo>
                  <a:lnTo>
                    <a:pt x="595249" y="117475"/>
                  </a:lnTo>
                  <a:cubicBezTo>
                    <a:pt x="595376" y="59563"/>
                    <a:pt x="548386" y="12700"/>
                    <a:pt x="490474" y="12700"/>
                  </a:cubicBezTo>
                  <a:lnTo>
                    <a:pt x="117475" y="12700"/>
                  </a:lnTo>
                  <a:lnTo>
                    <a:pt x="117475" y="6350"/>
                  </a:lnTo>
                  <a:lnTo>
                    <a:pt x="117475" y="12700"/>
                  </a:lnTo>
                  <a:cubicBezTo>
                    <a:pt x="59563" y="12700"/>
                    <a:pt x="12700" y="59563"/>
                    <a:pt x="12700" y="11747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577578" y="3028055"/>
            <a:ext cx="11443322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Notebook and accessory segments dominate the product portfolio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7476" y="3708054"/>
            <a:ext cx="456009" cy="456009"/>
            <a:chOff x="0" y="0"/>
            <a:chExt cx="608012" cy="6080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595249" cy="595249"/>
            </a:xfrm>
            <a:custGeom>
              <a:avLst/>
              <a:gdLst/>
              <a:ahLst/>
              <a:cxnLst/>
              <a:rect r="r" b="b" t="t" l="l"/>
              <a:pathLst>
                <a:path h="595249" w="595249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484124" y="0"/>
                  </a:lnTo>
                  <a:cubicBezTo>
                    <a:pt x="545465" y="0"/>
                    <a:pt x="595249" y="49784"/>
                    <a:pt x="595249" y="111125"/>
                  </a:cubicBezTo>
                  <a:lnTo>
                    <a:pt x="595249" y="484124"/>
                  </a:lnTo>
                  <a:cubicBezTo>
                    <a:pt x="595249" y="545465"/>
                    <a:pt x="545465" y="595249"/>
                    <a:pt x="484124" y="595249"/>
                  </a:cubicBezTo>
                  <a:lnTo>
                    <a:pt x="111125" y="595249"/>
                  </a:lnTo>
                  <a:cubicBezTo>
                    <a:pt x="49784" y="595376"/>
                    <a:pt x="0" y="545592"/>
                    <a:pt x="0" y="484124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7949" cy="607949"/>
            </a:xfrm>
            <a:custGeom>
              <a:avLst/>
              <a:gdLst/>
              <a:ahLst/>
              <a:cxnLst/>
              <a:rect r="r" b="b" t="t" l="l"/>
              <a:pathLst>
                <a:path h="607949" w="60794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cubicBezTo>
                    <a:pt x="555371" y="0"/>
                    <a:pt x="607949" y="52578"/>
                    <a:pt x="607949" y="117475"/>
                  </a:cubicBezTo>
                  <a:lnTo>
                    <a:pt x="601599" y="117475"/>
                  </a:lnTo>
                  <a:lnTo>
                    <a:pt x="607949" y="117475"/>
                  </a:lnTo>
                  <a:lnTo>
                    <a:pt x="607949" y="490474"/>
                  </a:lnTo>
                  <a:lnTo>
                    <a:pt x="601599" y="490474"/>
                  </a:lnTo>
                  <a:lnTo>
                    <a:pt x="607949" y="490474"/>
                  </a:lnTo>
                  <a:cubicBezTo>
                    <a:pt x="607949" y="555371"/>
                    <a:pt x="555371" y="607949"/>
                    <a:pt x="490474" y="607949"/>
                  </a:cubicBezTo>
                  <a:lnTo>
                    <a:pt x="490474" y="601599"/>
                  </a:lnTo>
                  <a:lnTo>
                    <a:pt x="490474" y="607949"/>
                  </a:lnTo>
                  <a:lnTo>
                    <a:pt x="117475" y="607949"/>
                  </a:lnTo>
                  <a:lnTo>
                    <a:pt x="117475" y="601599"/>
                  </a:lnTo>
                  <a:lnTo>
                    <a:pt x="117475" y="607949"/>
                  </a:lnTo>
                  <a:cubicBezTo>
                    <a:pt x="52578" y="608076"/>
                    <a:pt x="0" y="555371"/>
                    <a:pt x="0" y="490474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490474"/>
                  </a:lnTo>
                  <a:lnTo>
                    <a:pt x="6350" y="490474"/>
                  </a:lnTo>
                  <a:lnTo>
                    <a:pt x="12700" y="490474"/>
                  </a:lnTo>
                  <a:cubicBezTo>
                    <a:pt x="12700" y="548386"/>
                    <a:pt x="59563" y="595249"/>
                    <a:pt x="117475" y="595249"/>
                  </a:cubicBezTo>
                  <a:lnTo>
                    <a:pt x="490474" y="595249"/>
                  </a:lnTo>
                  <a:cubicBezTo>
                    <a:pt x="548386" y="595249"/>
                    <a:pt x="595249" y="548386"/>
                    <a:pt x="595249" y="490474"/>
                  </a:cubicBezTo>
                  <a:lnTo>
                    <a:pt x="595249" y="117475"/>
                  </a:lnTo>
                  <a:cubicBezTo>
                    <a:pt x="595376" y="59563"/>
                    <a:pt x="548386" y="12700"/>
                    <a:pt x="490474" y="12700"/>
                  </a:cubicBezTo>
                  <a:lnTo>
                    <a:pt x="117475" y="12700"/>
                  </a:lnTo>
                  <a:lnTo>
                    <a:pt x="117475" y="6350"/>
                  </a:lnTo>
                  <a:lnTo>
                    <a:pt x="117475" y="12700"/>
                  </a:lnTo>
                  <a:cubicBezTo>
                    <a:pt x="59563" y="12700"/>
                    <a:pt x="12700" y="59563"/>
                    <a:pt x="12700" y="11747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77578" y="3752402"/>
            <a:ext cx="10887075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Retail channel contributes </a:t>
            </a:r>
            <a:r>
              <a:rPr lang="en-US" sz="1937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73% of total sales revenue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476" y="4432402"/>
            <a:ext cx="456009" cy="456009"/>
            <a:chOff x="0" y="0"/>
            <a:chExt cx="608012" cy="60801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595249" cy="595249"/>
            </a:xfrm>
            <a:custGeom>
              <a:avLst/>
              <a:gdLst/>
              <a:ahLst/>
              <a:cxnLst/>
              <a:rect r="r" b="b" t="t" l="l"/>
              <a:pathLst>
                <a:path h="595249" w="595249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484124" y="0"/>
                  </a:lnTo>
                  <a:cubicBezTo>
                    <a:pt x="545465" y="0"/>
                    <a:pt x="595249" y="49784"/>
                    <a:pt x="595249" y="111125"/>
                  </a:cubicBezTo>
                  <a:lnTo>
                    <a:pt x="595249" y="484124"/>
                  </a:lnTo>
                  <a:cubicBezTo>
                    <a:pt x="595249" y="545465"/>
                    <a:pt x="545465" y="595249"/>
                    <a:pt x="484124" y="595249"/>
                  </a:cubicBezTo>
                  <a:lnTo>
                    <a:pt x="111125" y="595249"/>
                  </a:lnTo>
                  <a:cubicBezTo>
                    <a:pt x="49784" y="595376"/>
                    <a:pt x="0" y="545592"/>
                    <a:pt x="0" y="484124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7949" cy="607949"/>
            </a:xfrm>
            <a:custGeom>
              <a:avLst/>
              <a:gdLst/>
              <a:ahLst/>
              <a:cxnLst/>
              <a:rect r="r" b="b" t="t" l="l"/>
              <a:pathLst>
                <a:path h="607949" w="60794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cubicBezTo>
                    <a:pt x="555371" y="0"/>
                    <a:pt x="607949" y="52578"/>
                    <a:pt x="607949" y="117475"/>
                  </a:cubicBezTo>
                  <a:lnTo>
                    <a:pt x="601599" y="117475"/>
                  </a:lnTo>
                  <a:lnTo>
                    <a:pt x="607949" y="117475"/>
                  </a:lnTo>
                  <a:lnTo>
                    <a:pt x="607949" y="490474"/>
                  </a:lnTo>
                  <a:lnTo>
                    <a:pt x="601599" y="490474"/>
                  </a:lnTo>
                  <a:lnTo>
                    <a:pt x="607949" y="490474"/>
                  </a:lnTo>
                  <a:cubicBezTo>
                    <a:pt x="607949" y="555371"/>
                    <a:pt x="555371" y="607949"/>
                    <a:pt x="490474" y="607949"/>
                  </a:cubicBezTo>
                  <a:lnTo>
                    <a:pt x="490474" y="601599"/>
                  </a:lnTo>
                  <a:lnTo>
                    <a:pt x="490474" y="607949"/>
                  </a:lnTo>
                  <a:lnTo>
                    <a:pt x="117475" y="607949"/>
                  </a:lnTo>
                  <a:lnTo>
                    <a:pt x="117475" y="601599"/>
                  </a:lnTo>
                  <a:lnTo>
                    <a:pt x="117475" y="607949"/>
                  </a:lnTo>
                  <a:cubicBezTo>
                    <a:pt x="52578" y="608076"/>
                    <a:pt x="0" y="555371"/>
                    <a:pt x="0" y="490474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490474"/>
                  </a:lnTo>
                  <a:lnTo>
                    <a:pt x="6350" y="490474"/>
                  </a:lnTo>
                  <a:lnTo>
                    <a:pt x="12700" y="490474"/>
                  </a:lnTo>
                  <a:cubicBezTo>
                    <a:pt x="12700" y="548386"/>
                    <a:pt x="59563" y="595249"/>
                    <a:pt x="117475" y="595249"/>
                  </a:cubicBezTo>
                  <a:lnTo>
                    <a:pt x="490474" y="595249"/>
                  </a:lnTo>
                  <a:cubicBezTo>
                    <a:pt x="548386" y="595249"/>
                    <a:pt x="595249" y="548386"/>
                    <a:pt x="595249" y="490474"/>
                  </a:cubicBezTo>
                  <a:lnTo>
                    <a:pt x="595249" y="117475"/>
                  </a:lnTo>
                  <a:cubicBezTo>
                    <a:pt x="595376" y="59563"/>
                    <a:pt x="548386" y="12700"/>
                    <a:pt x="490474" y="12700"/>
                  </a:cubicBezTo>
                  <a:lnTo>
                    <a:pt x="117475" y="12700"/>
                  </a:lnTo>
                  <a:lnTo>
                    <a:pt x="117475" y="6350"/>
                  </a:lnTo>
                  <a:lnTo>
                    <a:pt x="117475" y="12700"/>
                  </a:lnTo>
                  <a:cubicBezTo>
                    <a:pt x="59563" y="12700"/>
                    <a:pt x="12700" y="59563"/>
                    <a:pt x="12700" y="11747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577578" y="4476750"/>
            <a:ext cx="11359173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Q4 shows the highest sales performance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87476" y="5156749"/>
            <a:ext cx="456009" cy="456009"/>
            <a:chOff x="0" y="0"/>
            <a:chExt cx="608012" cy="6080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595249" cy="595249"/>
            </a:xfrm>
            <a:custGeom>
              <a:avLst/>
              <a:gdLst/>
              <a:ahLst/>
              <a:cxnLst/>
              <a:rect r="r" b="b" t="t" l="l"/>
              <a:pathLst>
                <a:path h="595249" w="595249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484124" y="0"/>
                  </a:lnTo>
                  <a:cubicBezTo>
                    <a:pt x="545465" y="0"/>
                    <a:pt x="595249" y="49784"/>
                    <a:pt x="595249" y="111125"/>
                  </a:cubicBezTo>
                  <a:lnTo>
                    <a:pt x="595249" y="484124"/>
                  </a:lnTo>
                  <a:cubicBezTo>
                    <a:pt x="595249" y="545465"/>
                    <a:pt x="545465" y="595249"/>
                    <a:pt x="484124" y="595249"/>
                  </a:cubicBezTo>
                  <a:lnTo>
                    <a:pt x="111125" y="595249"/>
                  </a:lnTo>
                  <a:cubicBezTo>
                    <a:pt x="49784" y="595376"/>
                    <a:pt x="0" y="545592"/>
                    <a:pt x="0" y="484124"/>
                  </a:cubicBezTo>
                  <a:close/>
                </a:path>
              </a:pathLst>
            </a:custGeom>
            <a:solidFill>
              <a:srgbClr val="E2E3E9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07949" cy="607949"/>
            </a:xfrm>
            <a:custGeom>
              <a:avLst/>
              <a:gdLst/>
              <a:ahLst/>
              <a:cxnLst/>
              <a:rect r="r" b="b" t="t" l="l"/>
              <a:pathLst>
                <a:path h="607949" w="607949">
                  <a:moveTo>
                    <a:pt x="0" y="117475"/>
                  </a:moveTo>
                  <a:cubicBezTo>
                    <a:pt x="0" y="52578"/>
                    <a:pt x="52578" y="0"/>
                    <a:pt x="117475" y="0"/>
                  </a:cubicBez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lnTo>
                    <a:pt x="490474" y="6350"/>
                  </a:lnTo>
                  <a:lnTo>
                    <a:pt x="490474" y="0"/>
                  </a:lnTo>
                  <a:cubicBezTo>
                    <a:pt x="555371" y="0"/>
                    <a:pt x="607949" y="52578"/>
                    <a:pt x="607949" y="117475"/>
                  </a:cubicBezTo>
                  <a:lnTo>
                    <a:pt x="601599" y="117475"/>
                  </a:lnTo>
                  <a:lnTo>
                    <a:pt x="607949" y="117475"/>
                  </a:lnTo>
                  <a:lnTo>
                    <a:pt x="607949" y="490474"/>
                  </a:lnTo>
                  <a:lnTo>
                    <a:pt x="601599" y="490474"/>
                  </a:lnTo>
                  <a:lnTo>
                    <a:pt x="607949" y="490474"/>
                  </a:lnTo>
                  <a:cubicBezTo>
                    <a:pt x="607949" y="555371"/>
                    <a:pt x="555371" y="607949"/>
                    <a:pt x="490474" y="607949"/>
                  </a:cubicBezTo>
                  <a:lnTo>
                    <a:pt x="490474" y="601599"/>
                  </a:lnTo>
                  <a:lnTo>
                    <a:pt x="490474" y="607949"/>
                  </a:lnTo>
                  <a:lnTo>
                    <a:pt x="117475" y="607949"/>
                  </a:lnTo>
                  <a:lnTo>
                    <a:pt x="117475" y="601599"/>
                  </a:lnTo>
                  <a:lnTo>
                    <a:pt x="117475" y="607949"/>
                  </a:lnTo>
                  <a:cubicBezTo>
                    <a:pt x="52578" y="608076"/>
                    <a:pt x="0" y="555371"/>
                    <a:pt x="0" y="490474"/>
                  </a:cubicBezTo>
                  <a:lnTo>
                    <a:pt x="0" y="117475"/>
                  </a:lnTo>
                  <a:lnTo>
                    <a:pt x="6350" y="117475"/>
                  </a:lnTo>
                  <a:lnTo>
                    <a:pt x="0" y="117475"/>
                  </a:lnTo>
                  <a:moveTo>
                    <a:pt x="12700" y="117475"/>
                  </a:moveTo>
                  <a:lnTo>
                    <a:pt x="12700" y="490474"/>
                  </a:lnTo>
                  <a:lnTo>
                    <a:pt x="6350" y="490474"/>
                  </a:lnTo>
                  <a:lnTo>
                    <a:pt x="12700" y="490474"/>
                  </a:lnTo>
                  <a:cubicBezTo>
                    <a:pt x="12700" y="548386"/>
                    <a:pt x="59563" y="595249"/>
                    <a:pt x="117475" y="595249"/>
                  </a:cubicBezTo>
                  <a:lnTo>
                    <a:pt x="490474" y="595249"/>
                  </a:lnTo>
                  <a:cubicBezTo>
                    <a:pt x="548386" y="595249"/>
                    <a:pt x="595249" y="548386"/>
                    <a:pt x="595249" y="490474"/>
                  </a:cubicBezTo>
                  <a:lnTo>
                    <a:pt x="595249" y="117475"/>
                  </a:lnTo>
                  <a:cubicBezTo>
                    <a:pt x="595376" y="59563"/>
                    <a:pt x="548386" y="12700"/>
                    <a:pt x="490474" y="12700"/>
                  </a:cubicBezTo>
                  <a:lnTo>
                    <a:pt x="117475" y="12700"/>
                  </a:lnTo>
                  <a:lnTo>
                    <a:pt x="117475" y="6350"/>
                  </a:lnTo>
                  <a:lnTo>
                    <a:pt x="117475" y="12700"/>
                  </a:lnTo>
                  <a:cubicBezTo>
                    <a:pt x="59563" y="12700"/>
                    <a:pt x="12700" y="59563"/>
                    <a:pt x="12700" y="117475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577578" y="5201098"/>
            <a:ext cx="11150414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Large retailers receive </a:t>
            </a:r>
            <a:r>
              <a:rPr lang="en-US" sz="1937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~30% discount levels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38" y="5787781"/>
            <a:ext cx="11472415" cy="37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Strategic Recommendations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2238" y="6396780"/>
            <a:ext cx="8151762" cy="793852"/>
            <a:chOff x="0" y="0"/>
            <a:chExt cx="10869016" cy="1058469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10869041" cy="1058418"/>
            </a:xfrm>
            <a:custGeom>
              <a:avLst/>
              <a:gdLst/>
              <a:ahLst/>
              <a:cxnLst/>
              <a:rect r="r" b="b" t="t" l="l"/>
              <a:pathLst>
                <a:path h="1058418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" t="0" r="-216" b="-4"/>
              </a:stretch>
            </a:blip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90625" y="7300913"/>
            <a:ext cx="8932940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Focus on High-Growth Segments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44000" y="6396780"/>
            <a:ext cx="8151762" cy="793852"/>
            <a:chOff x="0" y="0"/>
            <a:chExt cx="10869016" cy="1058469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0869041" cy="1058418"/>
            </a:xfrm>
            <a:custGeom>
              <a:avLst/>
              <a:gdLst/>
              <a:ahLst/>
              <a:cxnLst/>
              <a:rect r="r" b="b" t="t" l="l"/>
              <a:pathLst>
                <a:path h="1058418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17" t="0" r="-216" b="-4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342387" y="7300913"/>
            <a:ext cx="7045383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Optimize Discount Policies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92238" y="7837884"/>
            <a:ext cx="8151762" cy="793852"/>
            <a:chOff x="0" y="0"/>
            <a:chExt cx="10869016" cy="1058469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10869041" cy="1058418"/>
            </a:xfrm>
            <a:custGeom>
              <a:avLst/>
              <a:gdLst/>
              <a:ahLst/>
              <a:cxnLst/>
              <a:rect r="r" b="b" t="t" l="l"/>
              <a:pathLst>
                <a:path h="1058418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17" t="0" r="-216" b="-4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190625" y="8742016"/>
            <a:ext cx="6639595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Strengthen Retail Partnerships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144000" y="7837884"/>
            <a:ext cx="8151762" cy="793852"/>
            <a:chOff x="0" y="0"/>
            <a:chExt cx="10869016" cy="1058469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10869041" cy="1058418"/>
            </a:xfrm>
            <a:custGeom>
              <a:avLst/>
              <a:gdLst/>
              <a:ahLst/>
              <a:cxnLst/>
              <a:rect r="r" b="b" t="t" l="l"/>
              <a:pathLst>
                <a:path h="1058418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058418"/>
                  </a:lnTo>
                  <a:lnTo>
                    <a:pt x="0" y="1058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17" t="0" r="-216" b="-4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342387" y="8742016"/>
            <a:ext cx="5284592" cy="31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true">
                <a:solidFill>
                  <a:srgbClr val="5B5F71"/>
                </a:solidFill>
                <a:latin typeface="Arimo Bold"/>
                <a:ea typeface="Arimo Bold"/>
                <a:cs typeface="Arimo Bold"/>
                <a:sym typeface="Arimo Bold"/>
              </a:rPr>
              <a:t>Align Inventory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DAHD62aNNUk</dc:identifier>
  <dcterms:modified xsi:type="dcterms:W3CDTF">2011-08-01T06:04:30Z</dcterms:modified>
  <cp:revision>1</cp:revision>
  <dc:title>Atliq-Hardware-Business-Insights-using-SQL.pptx</dc:title>
</cp:coreProperties>
</file>